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testation and SPIFFE: Securing Modern Cloud Identity and Trust" id="{B36827E8-A9A9-46C1-A243-647B540024B3}">
          <p14:sldIdLst>
            <p14:sldId id="2561"/>
            <p14:sldId id="2562"/>
          </p14:sldIdLst>
        </p14:section>
        <p14:section name="Understanding Attestation in Cloud Security" id="{07D7133A-3699-4EA3-B5E7-840E95CFEFE3}">
          <p14:sldIdLst>
            <p14:sldId id="2563"/>
            <p14:sldId id="2564"/>
            <p14:sldId id="2565"/>
            <p14:sldId id="2566"/>
          </p14:sldIdLst>
        </p14:section>
        <p14:section name="Introduction to SPIFFE (Secure Production Identity Framework For Everyone)" id="{570F9435-7A54-4370-9857-01D9BC105871}">
          <p14:sldIdLst>
            <p14:sldId id="2567"/>
            <p14:sldId id="2568"/>
            <p14:sldId id="2569"/>
            <p14:sldId id="2570"/>
          </p14:sldIdLst>
        </p14:section>
        <p14:section name="Integrating Attestation with SPIFFE" id="{AD1479C4-652E-4AC7-A54A-7140B594B9D3}">
          <p14:sldIdLst>
            <p14:sldId id="2571"/>
            <p14:sldId id="2572"/>
            <p14:sldId id="2573"/>
            <p14:sldId id="2574"/>
          </p14:sldIdLst>
        </p14:section>
        <p14:section name="Practical Implementations and Challenges" id="{32626EB1-73A5-4237-90B9-98B5E28DEBC6}">
          <p14:sldIdLst>
            <p14:sldId id="2575"/>
            <p14:sldId id="2576"/>
            <p14:sldId id="2577"/>
            <p14:sldId id="2578"/>
          </p14:sldIdLst>
        </p14:section>
        <p14:section name="Conclusion: Enhancing Cloud Security through Attestation and SPIFFE Integration" id="{74815052-0F4C-4AD1-B094-E25D8659C092}">
          <p14:sldIdLst>
            <p14:sldId id="25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461504-01FF-4DB8-B451-E9F515FA278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6F375C0-AF37-4458-AAB5-53A7B2CB0446}">
      <dgm:prSet/>
      <dgm:spPr/>
      <dgm:t>
        <a:bodyPr/>
        <a:lstStyle/>
        <a:p>
          <a:pPr>
            <a:lnSpc>
              <a:spcPct val="100000"/>
            </a:lnSpc>
            <a:defRPr b="1"/>
          </a:pPr>
          <a:r>
            <a:rPr lang="en-US" b="0" i="0"/>
            <a:t>Role of Attestation</a:t>
          </a:r>
          <a:endParaRPr lang="en-US"/>
        </a:p>
      </dgm:t>
    </dgm:pt>
    <dgm:pt modelId="{A9D0A733-5639-4FE3-AF69-556E5ADE6E7B}" type="parTrans" cxnId="{975547D1-2FCF-48EC-A4D8-5CF9DDAC01B0}">
      <dgm:prSet/>
      <dgm:spPr/>
      <dgm:t>
        <a:bodyPr/>
        <a:lstStyle/>
        <a:p>
          <a:endParaRPr lang="en-US"/>
        </a:p>
      </dgm:t>
    </dgm:pt>
    <dgm:pt modelId="{3BA62B1F-70E5-402B-A2A1-10DF68DB6668}" type="sibTrans" cxnId="{975547D1-2FCF-48EC-A4D8-5CF9DDAC01B0}">
      <dgm:prSet/>
      <dgm:spPr/>
      <dgm:t>
        <a:bodyPr/>
        <a:lstStyle/>
        <a:p>
          <a:pPr>
            <a:lnSpc>
              <a:spcPct val="100000"/>
            </a:lnSpc>
            <a:defRPr b="1"/>
          </a:pPr>
          <a:endParaRPr lang="en-US"/>
        </a:p>
      </dgm:t>
    </dgm:pt>
    <dgm:pt modelId="{37F1BBBE-E4F6-48D6-9E1C-097D70F4A9DE}">
      <dgm:prSet/>
      <dgm:spPr/>
      <dgm:t>
        <a:bodyPr/>
        <a:lstStyle/>
        <a:p>
          <a:pPr>
            <a:lnSpc>
              <a:spcPct val="100000"/>
            </a:lnSpc>
          </a:pPr>
          <a:r>
            <a:rPr lang="en-US" b="0" i="0"/>
            <a:t>Attestation verifies hardware and software integrity to establish trust in cloud environments.</a:t>
          </a:r>
          <a:endParaRPr lang="en-US"/>
        </a:p>
      </dgm:t>
    </dgm:pt>
    <dgm:pt modelId="{1C886FAC-7D90-4986-9828-BF8B68DFAB8A}" type="parTrans" cxnId="{E3B7CD9F-E261-4F0A-8F20-DF3660865729}">
      <dgm:prSet/>
      <dgm:spPr/>
      <dgm:t>
        <a:bodyPr/>
        <a:lstStyle/>
        <a:p>
          <a:endParaRPr lang="en-US"/>
        </a:p>
      </dgm:t>
    </dgm:pt>
    <dgm:pt modelId="{48ABA819-3492-4E5E-B7BA-A33FB6D1D81C}" type="sibTrans" cxnId="{E3B7CD9F-E261-4F0A-8F20-DF3660865729}">
      <dgm:prSet/>
      <dgm:spPr/>
      <dgm:t>
        <a:bodyPr/>
        <a:lstStyle/>
        <a:p>
          <a:endParaRPr lang="en-US"/>
        </a:p>
      </dgm:t>
    </dgm:pt>
    <dgm:pt modelId="{B5FE2958-5CBA-4984-999C-936DCA04C811}">
      <dgm:prSet/>
      <dgm:spPr/>
      <dgm:t>
        <a:bodyPr/>
        <a:lstStyle/>
        <a:p>
          <a:pPr>
            <a:lnSpc>
              <a:spcPct val="100000"/>
            </a:lnSpc>
            <a:defRPr b="1"/>
          </a:pPr>
          <a:r>
            <a:rPr lang="en-US" b="0" i="0"/>
            <a:t>SPIFFE Framework</a:t>
          </a:r>
          <a:endParaRPr lang="en-US"/>
        </a:p>
      </dgm:t>
    </dgm:pt>
    <dgm:pt modelId="{8F3B4D14-BCDF-4DA9-8D4B-4CB46A9C46D5}" type="parTrans" cxnId="{AEA1E847-4CBF-4DDF-8F48-C6C06558AB92}">
      <dgm:prSet/>
      <dgm:spPr/>
      <dgm:t>
        <a:bodyPr/>
        <a:lstStyle/>
        <a:p>
          <a:endParaRPr lang="en-US"/>
        </a:p>
      </dgm:t>
    </dgm:pt>
    <dgm:pt modelId="{346A98A7-E1ED-474C-AD10-EC9662D6360B}" type="sibTrans" cxnId="{AEA1E847-4CBF-4DDF-8F48-C6C06558AB92}">
      <dgm:prSet/>
      <dgm:spPr/>
      <dgm:t>
        <a:bodyPr/>
        <a:lstStyle/>
        <a:p>
          <a:pPr>
            <a:lnSpc>
              <a:spcPct val="100000"/>
            </a:lnSpc>
            <a:defRPr b="1"/>
          </a:pPr>
          <a:endParaRPr lang="en-US"/>
        </a:p>
      </dgm:t>
    </dgm:pt>
    <dgm:pt modelId="{A1D396A1-A425-4EF1-91A5-4BE4A33CE8B0}">
      <dgm:prSet/>
      <dgm:spPr/>
      <dgm:t>
        <a:bodyPr/>
        <a:lstStyle/>
        <a:p>
          <a:pPr>
            <a:lnSpc>
              <a:spcPct val="100000"/>
            </a:lnSpc>
          </a:pPr>
          <a:r>
            <a:rPr lang="en-US" b="0" i="0"/>
            <a:t>SPIFFE offers a robust identity framework for workloads in cloud-native systems.</a:t>
          </a:r>
          <a:endParaRPr lang="en-US"/>
        </a:p>
      </dgm:t>
    </dgm:pt>
    <dgm:pt modelId="{3BAB9F70-51F6-4D5F-9C69-2F98346AA4F0}" type="parTrans" cxnId="{22C158E8-9B8C-4D82-97A8-7125FD879FFA}">
      <dgm:prSet/>
      <dgm:spPr/>
      <dgm:t>
        <a:bodyPr/>
        <a:lstStyle/>
        <a:p>
          <a:endParaRPr lang="en-US"/>
        </a:p>
      </dgm:t>
    </dgm:pt>
    <dgm:pt modelId="{F9A33C58-7360-4DFB-A559-CE60A8D058C5}" type="sibTrans" cxnId="{22C158E8-9B8C-4D82-97A8-7125FD879FFA}">
      <dgm:prSet/>
      <dgm:spPr/>
      <dgm:t>
        <a:bodyPr/>
        <a:lstStyle/>
        <a:p>
          <a:endParaRPr lang="en-US"/>
        </a:p>
      </dgm:t>
    </dgm:pt>
    <dgm:pt modelId="{053014D6-8FFC-4BD4-8197-35342D8650A6}">
      <dgm:prSet/>
      <dgm:spPr/>
      <dgm:t>
        <a:bodyPr/>
        <a:lstStyle/>
        <a:p>
          <a:pPr>
            <a:lnSpc>
              <a:spcPct val="100000"/>
            </a:lnSpc>
            <a:defRPr b="1"/>
          </a:pPr>
          <a:r>
            <a:rPr lang="en-US" b="0" i="0"/>
            <a:t>Integration Benefits</a:t>
          </a:r>
          <a:endParaRPr lang="en-US"/>
        </a:p>
      </dgm:t>
    </dgm:pt>
    <dgm:pt modelId="{2879AA5A-514A-4CD2-B6F7-EA4C4321ACE5}" type="parTrans" cxnId="{47396B9E-1CF9-4284-A43F-BC28FB0C936E}">
      <dgm:prSet/>
      <dgm:spPr/>
      <dgm:t>
        <a:bodyPr/>
        <a:lstStyle/>
        <a:p>
          <a:endParaRPr lang="en-US"/>
        </a:p>
      </dgm:t>
    </dgm:pt>
    <dgm:pt modelId="{E610FEA8-EC0A-4B20-AA20-296810EE521B}" type="sibTrans" cxnId="{47396B9E-1CF9-4284-A43F-BC28FB0C936E}">
      <dgm:prSet/>
      <dgm:spPr/>
      <dgm:t>
        <a:bodyPr/>
        <a:lstStyle/>
        <a:p>
          <a:pPr>
            <a:lnSpc>
              <a:spcPct val="100000"/>
            </a:lnSpc>
            <a:defRPr b="1"/>
          </a:pPr>
          <a:endParaRPr lang="en-US"/>
        </a:p>
      </dgm:t>
    </dgm:pt>
    <dgm:pt modelId="{DA1D3A16-4BAA-439D-96B5-6A2CE3E4AA02}">
      <dgm:prSet/>
      <dgm:spPr/>
      <dgm:t>
        <a:bodyPr/>
        <a:lstStyle/>
        <a:p>
          <a:pPr>
            <a:lnSpc>
              <a:spcPct val="100000"/>
            </a:lnSpc>
          </a:pPr>
          <a:r>
            <a:rPr lang="en-US" b="0" i="0"/>
            <a:t>Combining attestation with SPIFFE enhances security through reliable identity verification and trust.</a:t>
          </a:r>
          <a:endParaRPr lang="en-US"/>
        </a:p>
      </dgm:t>
    </dgm:pt>
    <dgm:pt modelId="{652A0740-7F6C-4DF6-9134-56C9B74354BC}" type="parTrans" cxnId="{2B14FD47-4042-45C8-9E1B-7A8050A934FD}">
      <dgm:prSet/>
      <dgm:spPr/>
      <dgm:t>
        <a:bodyPr/>
        <a:lstStyle/>
        <a:p>
          <a:endParaRPr lang="en-US"/>
        </a:p>
      </dgm:t>
    </dgm:pt>
    <dgm:pt modelId="{B0956464-E148-4E9D-BEFA-DD8138455167}" type="sibTrans" cxnId="{2B14FD47-4042-45C8-9E1B-7A8050A934FD}">
      <dgm:prSet/>
      <dgm:spPr/>
      <dgm:t>
        <a:bodyPr/>
        <a:lstStyle/>
        <a:p>
          <a:endParaRPr lang="en-US"/>
        </a:p>
      </dgm:t>
    </dgm:pt>
    <dgm:pt modelId="{357DF8E9-E079-417D-A9CF-577DFF1C74AD}">
      <dgm:prSet/>
      <dgm:spPr/>
      <dgm:t>
        <a:bodyPr/>
        <a:lstStyle/>
        <a:p>
          <a:pPr>
            <a:lnSpc>
              <a:spcPct val="100000"/>
            </a:lnSpc>
            <a:defRPr b="1"/>
          </a:pPr>
          <a:r>
            <a:rPr lang="en-US" b="0" i="0"/>
            <a:t>Future Security Advancements</a:t>
          </a:r>
          <a:endParaRPr lang="en-US"/>
        </a:p>
      </dgm:t>
    </dgm:pt>
    <dgm:pt modelId="{A819E9BE-975E-4F33-A372-1BD12029E3BE}" type="parTrans" cxnId="{FD1817EB-D138-47F0-A451-D8A1A54584BE}">
      <dgm:prSet/>
      <dgm:spPr/>
      <dgm:t>
        <a:bodyPr/>
        <a:lstStyle/>
        <a:p>
          <a:endParaRPr lang="en-US"/>
        </a:p>
      </dgm:t>
    </dgm:pt>
    <dgm:pt modelId="{D2A0732B-849D-45B6-8B64-9D864160F610}" type="sibTrans" cxnId="{FD1817EB-D138-47F0-A451-D8A1A54584BE}">
      <dgm:prSet/>
      <dgm:spPr/>
      <dgm:t>
        <a:bodyPr/>
        <a:lstStyle/>
        <a:p>
          <a:endParaRPr lang="en-US"/>
        </a:p>
      </dgm:t>
    </dgm:pt>
    <dgm:pt modelId="{547EECD1-A45B-4C19-9A15-5910C245EAF0}">
      <dgm:prSet/>
      <dgm:spPr/>
      <dgm:t>
        <a:bodyPr/>
        <a:lstStyle/>
        <a:p>
          <a:pPr>
            <a:lnSpc>
              <a:spcPct val="100000"/>
            </a:lnSpc>
          </a:pPr>
          <a:r>
            <a:rPr lang="en-US" b="0" i="0"/>
            <a:t>Adopting best practices and overcoming challenges will drive future cloud security improvements.</a:t>
          </a:r>
          <a:endParaRPr lang="en-US"/>
        </a:p>
      </dgm:t>
    </dgm:pt>
    <dgm:pt modelId="{3EE7B447-E42E-40E3-B41C-8E2DF09DE387}" type="parTrans" cxnId="{439E0AEB-01F5-437B-99AC-7EC897F6C73F}">
      <dgm:prSet/>
      <dgm:spPr/>
      <dgm:t>
        <a:bodyPr/>
        <a:lstStyle/>
        <a:p>
          <a:endParaRPr lang="en-US"/>
        </a:p>
      </dgm:t>
    </dgm:pt>
    <dgm:pt modelId="{D515A05F-B943-4256-873A-0ACAE13691D1}" type="sibTrans" cxnId="{439E0AEB-01F5-437B-99AC-7EC897F6C73F}">
      <dgm:prSet/>
      <dgm:spPr/>
      <dgm:t>
        <a:bodyPr/>
        <a:lstStyle/>
        <a:p>
          <a:endParaRPr lang="en-US"/>
        </a:p>
      </dgm:t>
    </dgm:pt>
    <dgm:pt modelId="{1428244D-3085-46D2-A943-E56F93A2B7BC}" type="pres">
      <dgm:prSet presAssocID="{2E461504-01FF-4DB8-B451-E9F515FA2784}" presName="Name0" presStyleCnt="0">
        <dgm:presLayoutVars>
          <dgm:dir/>
          <dgm:resizeHandles val="exact"/>
        </dgm:presLayoutVars>
      </dgm:prSet>
      <dgm:spPr/>
    </dgm:pt>
    <dgm:pt modelId="{396FCA52-24D3-4219-9B7F-A751AEE987B1}" type="pres">
      <dgm:prSet presAssocID="{96F375C0-AF37-4458-AAB5-53A7B2CB0446}" presName="compNode" presStyleCnt="0"/>
      <dgm:spPr/>
    </dgm:pt>
    <dgm:pt modelId="{E06AB47E-E8B6-4070-89AC-62B9C19900B0}" type="pres">
      <dgm:prSet presAssocID="{96F375C0-AF37-4458-AAB5-53A7B2CB0446}" presName="pictRect" presStyleLbl="revTx" presStyleIdx="0" presStyleCnt="8">
        <dgm:presLayoutVars>
          <dgm:chMax val="0"/>
          <dgm:bulletEnabled/>
        </dgm:presLayoutVars>
      </dgm:prSet>
      <dgm:spPr/>
    </dgm:pt>
    <dgm:pt modelId="{49035A85-A404-47D4-BC2D-7C8A2410D6AD}" type="pres">
      <dgm:prSet presAssocID="{96F375C0-AF37-4458-AAB5-53A7B2CB0446}" presName="textRect" presStyleLbl="revTx" presStyleIdx="1" presStyleCnt="8">
        <dgm:presLayoutVars>
          <dgm:bulletEnabled/>
        </dgm:presLayoutVars>
      </dgm:prSet>
      <dgm:spPr/>
    </dgm:pt>
    <dgm:pt modelId="{D1C1E688-11FB-4462-B701-4AAD7F5E5D7D}" type="pres">
      <dgm:prSet presAssocID="{3BA62B1F-70E5-402B-A2A1-10DF68DB6668}" presName="sibTrans" presStyleLbl="sibTrans2D1" presStyleIdx="0" presStyleCnt="0"/>
      <dgm:spPr/>
    </dgm:pt>
    <dgm:pt modelId="{A74A05EE-78A5-40F5-9342-886D304035AE}" type="pres">
      <dgm:prSet presAssocID="{B5FE2958-5CBA-4984-999C-936DCA04C811}" presName="compNode" presStyleCnt="0"/>
      <dgm:spPr/>
    </dgm:pt>
    <dgm:pt modelId="{943AD2DB-7D28-4AE7-9844-2F1714C7919B}" type="pres">
      <dgm:prSet presAssocID="{B5FE2958-5CBA-4984-999C-936DCA04C811}" presName="pictRect" presStyleLbl="revTx" presStyleIdx="2" presStyleCnt="8">
        <dgm:presLayoutVars>
          <dgm:chMax val="0"/>
          <dgm:bulletEnabled/>
        </dgm:presLayoutVars>
      </dgm:prSet>
      <dgm:spPr/>
    </dgm:pt>
    <dgm:pt modelId="{E83359A3-988B-412C-98B0-5B1A3D4C6E02}" type="pres">
      <dgm:prSet presAssocID="{B5FE2958-5CBA-4984-999C-936DCA04C811}" presName="textRect" presStyleLbl="revTx" presStyleIdx="3" presStyleCnt="8">
        <dgm:presLayoutVars>
          <dgm:bulletEnabled/>
        </dgm:presLayoutVars>
      </dgm:prSet>
      <dgm:spPr/>
    </dgm:pt>
    <dgm:pt modelId="{268B227B-394A-48BF-A6ED-21B1021CF4E7}" type="pres">
      <dgm:prSet presAssocID="{346A98A7-E1ED-474C-AD10-EC9662D6360B}" presName="sibTrans" presStyleLbl="sibTrans2D1" presStyleIdx="0" presStyleCnt="0"/>
      <dgm:spPr/>
    </dgm:pt>
    <dgm:pt modelId="{D1D49C40-411A-4050-AD1F-83108948C26C}" type="pres">
      <dgm:prSet presAssocID="{053014D6-8FFC-4BD4-8197-35342D8650A6}" presName="compNode" presStyleCnt="0"/>
      <dgm:spPr/>
    </dgm:pt>
    <dgm:pt modelId="{B4CBDFB4-A1BA-43F2-8A10-C14B1C58D996}" type="pres">
      <dgm:prSet presAssocID="{053014D6-8FFC-4BD4-8197-35342D8650A6}" presName="pictRect" presStyleLbl="revTx" presStyleIdx="4" presStyleCnt="8">
        <dgm:presLayoutVars>
          <dgm:chMax val="0"/>
          <dgm:bulletEnabled/>
        </dgm:presLayoutVars>
      </dgm:prSet>
      <dgm:spPr/>
    </dgm:pt>
    <dgm:pt modelId="{0AD34904-9E2E-4ED9-96A2-6C28EBF1ED74}" type="pres">
      <dgm:prSet presAssocID="{053014D6-8FFC-4BD4-8197-35342D8650A6}" presName="textRect" presStyleLbl="revTx" presStyleIdx="5" presStyleCnt="8">
        <dgm:presLayoutVars>
          <dgm:bulletEnabled/>
        </dgm:presLayoutVars>
      </dgm:prSet>
      <dgm:spPr/>
    </dgm:pt>
    <dgm:pt modelId="{B208C3D7-E4DF-4E69-A924-644E1D0F838B}" type="pres">
      <dgm:prSet presAssocID="{E610FEA8-EC0A-4B20-AA20-296810EE521B}" presName="sibTrans" presStyleLbl="sibTrans2D1" presStyleIdx="0" presStyleCnt="0"/>
      <dgm:spPr/>
    </dgm:pt>
    <dgm:pt modelId="{A69422DE-AF6E-4DCD-A133-E392372E7DB2}" type="pres">
      <dgm:prSet presAssocID="{357DF8E9-E079-417D-A9CF-577DFF1C74AD}" presName="compNode" presStyleCnt="0"/>
      <dgm:spPr/>
    </dgm:pt>
    <dgm:pt modelId="{848FC901-4E88-4CD2-9F1A-76BFB8E2275B}" type="pres">
      <dgm:prSet presAssocID="{357DF8E9-E079-417D-A9CF-577DFF1C74AD}" presName="pictRect" presStyleLbl="revTx" presStyleIdx="6" presStyleCnt="8">
        <dgm:presLayoutVars>
          <dgm:chMax val="0"/>
          <dgm:bulletEnabled/>
        </dgm:presLayoutVars>
      </dgm:prSet>
      <dgm:spPr/>
    </dgm:pt>
    <dgm:pt modelId="{6C9FC6D4-DDF1-47A4-8AD5-514415A5F676}" type="pres">
      <dgm:prSet presAssocID="{357DF8E9-E079-417D-A9CF-577DFF1C74AD}" presName="textRect" presStyleLbl="revTx" presStyleIdx="7" presStyleCnt="8">
        <dgm:presLayoutVars>
          <dgm:bulletEnabled/>
        </dgm:presLayoutVars>
      </dgm:prSet>
      <dgm:spPr/>
    </dgm:pt>
  </dgm:ptLst>
  <dgm:cxnLst>
    <dgm:cxn modelId="{828BD104-3616-477B-9E2F-79A9BF776BA6}" type="presOf" srcId="{A1D396A1-A425-4EF1-91A5-4BE4A33CE8B0}" destId="{E83359A3-988B-412C-98B0-5B1A3D4C6E02}" srcOrd="0" destOrd="0" presId="urn:microsoft.com/office/officeart/2024/3/layout/hArchList1"/>
    <dgm:cxn modelId="{CA64720C-E57B-4F88-B136-793C03F675F0}" type="presOf" srcId="{37F1BBBE-E4F6-48D6-9E1C-097D70F4A9DE}" destId="{49035A85-A404-47D4-BC2D-7C8A2410D6AD}" srcOrd="0" destOrd="0" presId="urn:microsoft.com/office/officeart/2024/3/layout/hArchList1"/>
    <dgm:cxn modelId="{080B8725-EC27-45B7-94F0-02E84A729D41}" type="presOf" srcId="{053014D6-8FFC-4BD4-8197-35342D8650A6}" destId="{B4CBDFB4-A1BA-43F2-8A10-C14B1C58D996}" srcOrd="0" destOrd="0" presId="urn:microsoft.com/office/officeart/2024/3/layout/hArchList1"/>
    <dgm:cxn modelId="{2F613130-BFBB-4338-AAA6-69A6876F973B}" type="presOf" srcId="{547EECD1-A45B-4C19-9A15-5910C245EAF0}" destId="{6C9FC6D4-DDF1-47A4-8AD5-514415A5F676}" srcOrd="0" destOrd="0" presId="urn:microsoft.com/office/officeart/2024/3/layout/hArchList1"/>
    <dgm:cxn modelId="{AEA1E847-4CBF-4DDF-8F48-C6C06558AB92}" srcId="{2E461504-01FF-4DB8-B451-E9F515FA2784}" destId="{B5FE2958-5CBA-4984-999C-936DCA04C811}" srcOrd="1" destOrd="0" parTransId="{8F3B4D14-BCDF-4DA9-8D4B-4CB46A9C46D5}" sibTransId="{346A98A7-E1ED-474C-AD10-EC9662D6360B}"/>
    <dgm:cxn modelId="{2B14FD47-4042-45C8-9E1B-7A8050A934FD}" srcId="{053014D6-8FFC-4BD4-8197-35342D8650A6}" destId="{DA1D3A16-4BAA-439D-96B5-6A2CE3E4AA02}" srcOrd="0" destOrd="0" parTransId="{652A0740-7F6C-4DF6-9134-56C9B74354BC}" sibTransId="{B0956464-E148-4E9D-BEFA-DD8138455167}"/>
    <dgm:cxn modelId="{FDF8CE6E-32D8-4C42-A76C-93698893AE6D}" type="presOf" srcId="{357DF8E9-E079-417D-A9CF-577DFF1C74AD}" destId="{848FC901-4E88-4CD2-9F1A-76BFB8E2275B}" srcOrd="0" destOrd="0" presId="urn:microsoft.com/office/officeart/2024/3/layout/hArchList1"/>
    <dgm:cxn modelId="{B8A6D777-D791-4912-8FAC-8DDD094EC0CE}" type="presOf" srcId="{E610FEA8-EC0A-4B20-AA20-296810EE521B}" destId="{B208C3D7-E4DF-4E69-A924-644E1D0F838B}" srcOrd="0" destOrd="0" presId="urn:microsoft.com/office/officeart/2024/3/layout/hArchList1"/>
    <dgm:cxn modelId="{C2E0BA79-504F-4726-92EC-FFC86BCF3B6B}" type="presOf" srcId="{2E461504-01FF-4DB8-B451-E9F515FA2784}" destId="{1428244D-3085-46D2-A943-E56F93A2B7BC}" srcOrd="0" destOrd="0" presId="urn:microsoft.com/office/officeart/2024/3/layout/hArchList1"/>
    <dgm:cxn modelId="{C2B81C97-14CC-4333-A9FC-5A37B505C6FC}" type="presOf" srcId="{3BA62B1F-70E5-402B-A2A1-10DF68DB6668}" destId="{D1C1E688-11FB-4462-B701-4AAD7F5E5D7D}" srcOrd="0" destOrd="0" presId="urn:microsoft.com/office/officeart/2024/3/layout/hArchList1"/>
    <dgm:cxn modelId="{D492A19B-AD77-4309-AE5E-F387FB9C061E}" type="presOf" srcId="{96F375C0-AF37-4458-AAB5-53A7B2CB0446}" destId="{E06AB47E-E8B6-4070-89AC-62B9C19900B0}" srcOrd="0" destOrd="0" presId="urn:microsoft.com/office/officeart/2024/3/layout/hArchList1"/>
    <dgm:cxn modelId="{47396B9E-1CF9-4284-A43F-BC28FB0C936E}" srcId="{2E461504-01FF-4DB8-B451-E9F515FA2784}" destId="{053014D6-8FFC-4BD4-8197-35342D8650A6}" srcOrd="2" destOrd="0" parTransId="{2879AA5A-514A-4CD2-B6F7-EA4C4321ACE5}" sibTransId="{E610FEA8-EC0A-4B20-AA20-296810EE521B}"/>
    <dgm:cxn modelId="{E3B7CD9F-E261-4F0A-8F20-DF3660865729}" srcId="{96F375C0-AF37-4458-AAB5-53A7B2CB0446}" destId="{37F1BBBE-E4F6-48D6-9E1C-097D70F4A9DE}" srcOrd="0" destOrd="0" parTransId="{1C886FAC-7D90-4986-9828-BF8B68DFAB8A}" sibTransId="{48ABA819-3492-4E5E-B7BA-A33FB6D1D81C}"/>
    <dgm:cxn modelId="{8D5C9EC0-596C-44C7-B799-4E1CDD9233E3}" type="presOf" srcId="{B5FE2958-5CBA-4984-999C-936DCA04C811}" destId="{943AD2DB-7D28-4AE7-9844-2F1714C7919B}" srcOrd="0" destOrd="0" presId="urn:microsoft.com/office/officeart/2024/3/layout/hArchList1"/>
    <dgm:cxn modelId="{62970AC9-FC34-48CD-8DB0-C3558032317B}" type="presOf" srcId="{346A98A7-E1ED-474C-AD10-EC9662D6360B}" destId="{268B227B-394A-48BF-A6ED-21B1021CF4E7}" srcOrd="0" destOrd="0" presId="urn:microsoft.com/office/officeart/2024/3/layout/hArchList1"/>
    <dgm:cxn modelId="{975547D1-2FCF-48EC-A4D8-5CF9DDAC01B0}" srcId="{2E461504-01FF-4DB8-B451-E9F515FA2784}" destId="{96F375C0-AF37-4458-AAB5-53A7B2CB0446}" srcOrd="0" destOrd="0" parTransId="{A9D0A733-5639-4FE3-AF69-556E5ADE6E7B}" sibTransId="{3BA62B1F-70E5-402B-A2A1-10DF68DB6668}"/>
    <dgm:cxn modelId="{22C158E8-9B8C-4D82-97A8-7125FD879FFA}" srcId="{B5FE2958-5CBA-4984-999C-936DCA04C811}" destId="{A1D396A1-A425-4EF1-91A5-4BE4A33CE8B0}" srcOrd="0" destOrd="0" parTransId="{3BAB9F70-51F6-4D5F-9C69-2F98346AA4F0}" sibTransId="{F9A33C58-7360-4DFB-A559-CE60A8D058C5}"/>
    <dgm:cxn modelId="{439E0AEB-01F5-437B-99AC-7EC897F6C73F}" srcId="{357DF8E9-E079-417D-A9CF-577DFF1C74AD}" destId="{547EECD1-A45B-4C19-9A15-5910C245EAF0}" srcOrd="0" destOrd="0" parTransId="{3EE7B447-E42E-40E3-B41C-8E2DF09DE387}" sibTransId="{D515A05F-B943-4256-873A-0ACAE13691D1}"/>
    <dgm:cxn modelId="{FD1817EB-D138-47F0-A451-D8A1A54584BE}" srcId="{2E461504-01FF-4DB8-B451-E9F515FA2784}" destId="{357DF8E9-E079-417D-A9CF-577DFF1C74AD}" srcOrd="3" destOrd="0" parTransId="{A819E9BE-975E-4F33-A372-1BD12029E3BE}" sibTransId="{D2A0732B-849D-45B6-8B64-9D864160F610}"/>
    <dgm:cxn modelId="{2976D1F1-C16F-489D-A32E-4520F2033AA3}" type="presOf" srcId="{DA1D3A16-4BAA-439D-96B5-6A2CE3E4AA02}" destId="{0AD34904-9E2E-4ED9-96A2-6C28EBF1ED74}" srcOrd="0" destOrd="0" presId="urn:microsoft.com/office/officeart/2024/3/layout/hArchList1"/>
    <dgm:cxn modelId="{FE4C4768-C32E-4D34-AE5F-F4E2BDED584D}" type="presParOf" srcId="{1428244D-3085-46D2-A943-E56F93A2B7BC}" destId="{396FCA52-24D3-4219-9B7F-A751AEE987B1}" srcOrd="0" destOrd="0" presId="urn:microsoft.com/office/officeart/2024/3/layout/hArchList1"/>
    <dgm:cxn modelId="{F83859E9-B3D5-43D4-90E0-BF6D5DCDB6E3}" type="presParOf" srcId="{396FCA52-24D3-4219-9B7F-A751AEE987B1}" destId="{E06AB47E-E8B6-4070-89AC-62B9C19900B0}" srcOrd="0" destOrd="0" presId="urn:microsoft.com/office/officeart/2024/3/layout/hArchList1"/>
    <dgm:cxn modelId="{848C1F8B-8C6B-4625-8EE8-4B1A5EBBF858}" type="presParOf" srcId="{396FCA52-24D3-4219-9B7F-A751AEE987B1}" destId="{49035A85-A404-47D4-BC2D-7C8A2410D6AD}" srcOrd="1" destOrd="0" presId="urn:microsoft.com/office/officeart/2024/3/layout/hArchList1"/>
    <dgm:cxn modelId="{5744C1C2-6C73-4E86-9C48-7C241DD30FE9}" type="presParOf" srcId="{1428244D-3085-46D2-A943-E56F93A2B7BC}" destId="{D1C1E688-11FB-4462-B701-4AAD7F5E5D7D}" srcOrd="1" destOrd="0" presId="urn:microsoft.com/office/officeart/2024/3/layout/hArchList1"/>
    <dgm:cxn modelId="{C9AD97F9-40D4-4320-B3C6-CD74DF888EC3}" type="presParOf" srcId="{1428244D-3085-46D2-A943-E56F93A2B7BC}" destId="{A74A05EE-78A5-40F5-9342-886D304035AE}" srcOrd="2" destOrd="0" presId="urn:microsoft.com/office/officeart/2024/3/layout/hArchList1"/>
    <dgm:cxn modelId="{077D542C-91C5-4C75-8AEA-91F4238ADDD3}" type="presParOf" srcId="{A74A05EE-78A5-40F5-9342-886D304035AE}" destId="{943AD2DB-7D28-4AE7-9844-2F1714C7919B}" srcOrd="0" destOrd="0" presId="urn:microsoft.com/office/officeart/2024/3/layout/hArchList1"/>
    <dgm:cxn modelId="{DCD9C2DD-FFA7-48A5-97F0-D279754BFF54}" type="presParOf" srcId="{A74A05EE-78A5-40F5-9342-886D304035AE}" destId="{E83359A3-988B-412C-98B0-5B1A3D4C6E02}" srcOrd="1" destOrd="0" presId="urn:microsoft.com/office/officeart/2024/3/layout/hArchList1"/>
    <dgm:cxn modelId="{D3A6B7ED-CB2C-414A-AF42-50DC050F23C4}" type="presParOf" srcId="{1428244D-3085-46D2-A943-E56F93A2B7BC}" destId="{268B227B-394A-48BF-A6ED-21B1021CF4E7}" srcOrd="3" destOrd="0" presId="urn:microsoft.com/office/officeart/2024/3/layout/hArchList1"/>
    <dgm:cxn modelId="{A2B7D839-57CA-41A2-9A05-130B273655D8}" type="presParOf" srcId="{1428244D-3085-46D2-A943-E56F93A2B7BC}" destId="{D1D49C40-411A-4050-AD1F-83108948C26C}" srcOrd="4" destOrd="0" presId="urn:microsoft.com/office/officeart/2024/3/layout/hArchList1"/>
    <dgm:cxn modelId="{F561A6E8-2333-41C3-9704-87CD5E6B4A6B}" type="presParOf" srcId="{D1D49C40-411A-4050-AD1F-83108948C26C}" destId="{B4CBDFB4-A1BA-43F2-8A10-C14B1C58D996}" srcOrd="0" destOrd="0" presId="urn:microsoft.com/office/officeart/2024/3/layout/hArchList1"/>
    <dgm:cxn modelId="{6BD7F4CF-1BF5-40A9-A40E-4BFB0B0094BA}" type="presParOf" srcId="{D1D49C40-411A-4050-AD1F-83108948C26C}" destId="{0AD34904-9E2E-4ED9-96A2-6C28EBF1ED74}" srcOrd="1" destOrd="0" presId="urn:microsoft.com/office/officeart/2024/3/layout/hArchList1"/>
    <dgm:cxn modelId="{BC1E4D29-21E3-4629-B96F-53F4B8C3E924}" type="presParOf" srcId="{1428244D-3085-46D2-A943-E56F93A2B7BC}" destId="{B208C3D7-E4DF-4E69-A924-644E1D0F838B}" srcOrd="5" destOrd="0" presId="urn:microsoft.com/office/officeart/2024/3/layout/hArchList1"/>
    <dgm:cxn modelId="{E83286C8-6DE7-4183-8AB7-843525C3E7D6}" type="presParOf" srcId="{1428244D-3085-46D2-A943-E56F93A2B7BC}" destId="{A69422DE-AF6E-4DCD-A133-E392372E7DB2}" srcOrd="6" destOrd="0" presId="urn:microsoft.com/office/officeart/2024/3/layout/hArchList1"/>
    <dgm:cxn modelId="{EDD485EB-D4DC-4B97-9834-F4A484FE99F8}" type="presParOf" srcId="{A69422DE-AF6E-4DCD-A133-E392372E7DB2}" destId="{848FC901-4E88-4CD2-9F1A-76BFB8E2275B}" srcOrd="0" destOrd="0" presId="urn:microsoft.com/office/officeart/2024/3/layout/hArchList1"/>
    <dgm:cxn modelId="{00869FAE-7946-4B15-8555-6458E1B669E8}" type="presParOf" srcId="{A69422DE-AF6E-4DCD-A133-E392372E7DB2}" destId="{6C9FC6D4-DDF1-47A4-8AD5-514415A5F67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6AB47E-E8B6-4070-89AC-62B9C19900B0}">
      <dsp:nvSpPr>
        <dsp:cNvPr id="0" name=""/>
        <dsp:cNvSpPr/>
      </dsp:nvSpPr>
      <dsp:spPr>
        <a:xfrm>
          <a:off x="0" y="0"/>
          <a:ext cx="2545260" cy="617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Role of Attestation</a:t>
          </a:r>
          <a:endParaRPr lang="en-US" sz="1800" kern="1200"/>
        </a:p>
      </dsp:txBody>
      <dsp:txXfrm>
        <a:off x="0" y="0"/>
        <a:ext cx="2545260" cy="617218"/>
      </dsp:txXfrm>
    </dsp:sp>
    <dsp:sp modelId="{49035A85-A404-47D4-BC2D-7C8A2410D6AD}">
      <dsp:nvSpPr>
        <dsp:cNvPr id="0" name=""/>
        <dsp:cNvSpPr/>
      </dsp:nvSpPr>
      <dsp:spPr>
        <a:xfrm>
          <a:off x="0" y="617218"/>
          <a:ext cx="2545260" cy="2137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Attestation verifies hardware and software integrity to establish trust in cloud environments.</a:t>
          </a:r>
          <a:endParaRPr lang="en-US" sz="1400" kern="1200"/>
        </a:p>
      </dsp:txBody>
      <dsp:txXfrm>
        <a:off x="0" y="617218"/>
        <a:ext cx="2545260" cy="2137887"/>
      </dsp:txXfrm>
    </dsp:sp>
    <dsp:sp modelId="{943AD2DB-7D28-4AE7-9844-2F1714C7919B}">
      <dsp:nvSpPr>
        <dsp:cNvPr id="0" name=""/>
        <dsp:cNvSpPr/>
      </dsp:nvSpPr>
      <dsp:spPr>
        <a:xfrm>
          <a:off x="2799786" y="0"/>
          <a:ext cx="2545260" cy="617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SPIFFE Framework</a:t>
          </a:r>
          <a:endParaRPr lang="en-US" sz="1800" kern="1200"/>
        </a:p>
      </dsp:txBody>
      <dsp:txXfrm>
        <a:off x="2799786" y="0"/>
        <a:ext cx="2545260" cy="617218"/>
      </dsp:txXfrm>
    </dsp:sp>
    <dsp:sp modelId="{E83359A3-988B-412C-98B0-5B1A3D4C6E02}">
      <dsp:nvSpPr>
        <dsp:cNvPr id="0" name=""/>
        <dsp:cNvSpPr/>
      </dsp:nvSpPr>
      <dsp:spPr>
        <a:xfrm>
          <a:off x="2799786" y="617218"/>
          <a:ext cx="2545260" cy="2137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SPIFFE offers a robust identity framework for workloads in cloud-native systems.</a:t>
          </a:r>
          <a:endParaRPr lang="en-US" sz="1400" kern="1200"/>
        </a:p>
      </dsp:txBody>
      <dsp:txXfrm>
        <a:off x="2799786" y="617218"/>
        <a:ext cx="2545260" cy="2137887"/>
      </dsp:txXfrm>
    </dsp:sp>
    <dsp:sp modelId="{B4CBDFB4-A1BA-43F2-8A10-C14B1C58D996}">
      <dsp:nvSpPr>
        <dsp:cNvPr id="0" name=""/>
        <dsp:cNvSpPr/>
      </dsp:nvSpPr>
      <dsp:spPr>
        <a:xfrm>
          <a:off x="5599573" y="0"/>
          <a:ext cx="2545260" cy="617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Integration Benefits</a:t>
          </a:r>
          <a:endParaRPr lang="en-US" sz="1800" kern="1200"/>
        </a:p>
      </dsp:txBody>
      <dsp:txXfrm>
        <a:off x="5599573" y="0"/>
        <a:ext cx="2545260" cy="617218"/>
      </dsp:txXfrm>
    </dsp:sp>
    <dsp:sp modelId="{0AD34904-9E2E-4ED9-96A2-6C28EBF1ED74}">
      <dsp:nvSpPr>
        <dsp:cNvPr id="0" name=""/>
        <dsp:cNvSpPr/>
      </dsp:nvSpPr>
      <dsp:spPr>
        <a:xfrm>
          <a:off x="5599573" y="617218"/>
          <a:ext cx="2545260" cy="2137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Combining attestation with SPIFFE enhances security through reliable identity verification and trust.</a:t>
          </a:r>
          <a:endParaRPr lang="en-US" sz="1400" kern="1200"/>
        </a:p>
      </dsp:txBody>
      <dsp:txXfrm>
        <a:off x="5599573" y="617218"/>
        <a:ext cx="2545260" cy="2137887"/>
      </dsp:txXfrm>
    </dsp:sp>
    <dsp:sp modelId="{848FC901-4E88-4CD2-9F1A-76BFB8E2275B}">
      <dsp:nvSpPr>
        <dsp:cNvPr id="0" name=""/>
        <dsp:cNvSpPr/>
      </dsp:nvSpPr>
      <dsp:spPr>
        <a:xfrm>
          <a:off x="8399359" y="0"/>
          <a:ext cx="2545260" cy="617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Future Security Advancements</a:t>
          </a:r>
          <a:endParaRPr lang="en-US" sz="1800" kern="1200"/>
        </a:p>
      </dsp:txBody>
      <dsp:txXfrm>
        <a:off x="8399359" y="0"/>
        <a:ext cx="2545260" cy="617218"/>
      </dsp:txXfrm>
    </dsp:sp>
    <dsp:sp modelId="{6C9FC6D4-DDF1-47A4-8AD5-514415A5F676}">
      <dsp:nvSpPr>
        <dsp:cNvPr id="0" name=""/>
        <dsp:cNvSpPr/>
      </dsp:nvSpPr>
      <dsp:spPr>
        <a:xfrm>
          <a:off x="8399359" y="617218"/>
          <a:ext cx="2545260" cy="2137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Adopting best practices and overcoming challenges will drive future cloud security improvements.</a:t>
          </a:r>
          <a:endParaRPr lang="en-US" sz="1400" kern="1200"/>
        </a:p>
      </dsp:txBody>
      <dsp:txXfrm>
        <a:off x="8399359" y="617218"/>
        <a:ext cx="2545260" cy="2137887"/>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247B11-C928-4207-B4C6-B05C0ED76D6A}" type="datetimeFigureOut">
              <a:rPr lang="en-GB" smtClean="0"/>
              <a:t>16/03/2026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0D7AD-566C-44F5-BC73-3A56A3A256CF}" type="slidenum">
              <a:rPr lang="en-GB" smtClean="0"/>
              <a:t>‹#›</a:t>
            </a:fld>
            <a:endParaRPr lang="en-GB"/>
          </a:p>
        </p:txBody>
      </p:sp>
    </p:spTree>
    <p:extLst>
      <p:ext uri="{BB962C8B-B14F-4D97-AF65-F5344CB8AC3E}">
        <p14:creationId xmlns:p14="http://schemas.microsoft.com/office/powerpoint/2010/main" val="3245028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AI-generated content may be incorrect.
---
</a:t>
            </a:r>
          </a:p>
        </p:txBody>
      </p:sp>
      <p:sp>
        <p:nvSpPr>
          <p:cNvPr id="4" name="Slide Number Placeholder 3"/>
          <p:cNvSpPr>
            <a:spLocks noGrp="1"/>
          </p:cNvSpPr>
          <p:nvPr>
            <p:ph type="sldNum" sz="quarter" idx="5"/>
          </p:nvPr>
        </p:nvSpPr>
        <p:spPr/>
        <p:txBody>
          <a:bodyPr/>
          <a:lstStyle/>
          <a:p>
            <a:fld id="{E4BAAD00-3A39-48EE-8F8A-179574504C9D}" type="slidenum">
              <a:rPr lang="en-GB" smtClean="0"/>
              <a:t>1</a:t>
            </a:fld>
            <a:endParaRPr lang="en-GB"/>
          </a:p>
        </p:txBody>
      </p:sp>
    </p:spTree>
    <p:extLst>
      <p:ext uri="{BB962C8B-B14F-4D97-AF65-F5344CB8AC3E}">
        <p14:creationId xmlns:p14="http://schemas.microsoft.com/office/powerpoint/2010/main" val="3017026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Understanding Attestation in Cloud Security
 Introduction to SPIFFE (Secure Production Identity Framework For Everyone)
 Integrating Attestation with SPIFFE
 Practical Implementations and Challenges</a:t>
            </a:r>
          </a:p>
        </p:txBody>
      </p:sp>
      <p:sp>
        <p:nvSpPr>
          <p:cNvPr id="4" name="Slide Number Placeholder 3"/>
          <p:cNvSpPr>
            <a:spLocks noGrp="1"/>
          </p:cNvSpPr>
          <p:nvPr>
            <p:ph type="sldNum" sz="quarter" idx="5"/>
          </p:nvPr>
        </p:nvSpPr>
        <p:spPr/>
        <p:txBody>
          <a:bodyPr/>
          <a:lstStyle/>
          <a:p>
            <a:fld id="{E4BAAD00-3A39-48EE-8F8A-179574504C9D}" type="slidenum">
              <a:rPr lang="en-GB" smtClean="0"/>
              <a:t>2</a:t>
            </a:fld>
            <a:endParaRPr lang="en-GB"/>
          </a:p>
        </p:txBody>
      </p:sp>
    </p:spTree>
    <p:extLst>
      <p:ext uri="{BB962C8B-B14F-4D97-AF65-F5344CB8AC3E}">
        <p14:creationId xmlns:p14="http://schemas.microsoft.com/office/powerpoint/2010/main" val="402223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Definition and Purpose of Attestation, Types of Attestation: Hardware, Software, and Remote, Role of Attestation in Establishing Trust</a:t>
            </a:r>
          </a:p>
        </p:txBody>
      </p:sp>
      <p:sp>
        <p:nvSpPr>
          <p:cNvPr id="4" name="Slide Number Placeholder 3"/>
          <p:cNvSpPr>
            <a:spLocks noGrp="1"/>
          </p:cNvSpPr>
          <p:nvPr>
            <p:ph type="sldNum" sz="quarter" idx="5"/>
          </p:nvPr>
        </p:nvSpPr>
        <p:spPr/>
        <p:txBody>
          <a:bodyPr/>
          <a:lstStyle/>
          <a:p>
            <a:fld id="{E4BAAD00-3A39-48EE-8F8A-179574504C9D}" type="slidenum">
              <a:rPr lang="en-GB" smtClean="0"/>
              <a:t>3</a:t>
            </a:fld>
            <a:endParaRPr lang="en-GB"/>
          </a:p>
        </p:txBody>
      </p:sp>
    </p:spTree>
    <p:extLst>
      <p:ext uri="{BB962C8B-B14F-4D97-AF65-F5344CB8AC3E}">
        <p14:creationId xmlns:p14="http://schemas.microsoft.com/office/powerpoint/2010/main" val="4252438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Attestation is a security process used to prove the integrity and authenticity of a system or component before it is trusted in a cloud environment. It verifies that a system’s hardware or software configurations meet predefined security standards and have not been tampered with. Attestation thereby acts as a foundational mechanism to establish trust between entities in distributed and dynamic cloud infrastructures.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4</a:t>
            </a:fld>
            <a:endParaRPr lang="en-GB"/>
          </a:p>
        </p:txBody>
      </p:sp>
    </p:spTree>
    <p:extLst>
      <p:ext uri="{BB962C8B-B14F-4D97-AF65-F5344CB8AC3E}">
        <p14:creationId xmlns:p14="http://schemas.microsoft.com/office/powerpoint/2010/main" val="20449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Attestation typically falls into three categories: hardware attestation, which leverages trusted platform modules (TPMs) or secure enclaves to provide cryptographic proof of hardware state; software attestation, which verifies software integrity via cryptographic hashes or signatures; and remote attestation, where a system proves its integrity status to a remote verifier, critical in cloud and distributed environments. Hardware attestation is considered the most robust but may have deployment complexity, while remote attestation enables scaled trust in multi-tenant cloud scenarios.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5</a:t>
            </a:fld>
            <a:endParaRPr lang="en-GB"/>
          </a:p>
        </p:txBody>
      </p:sp>
    </p:spTree>
    <p:extLst>
      <p:ext uri="{BB962C8B-B14F-4D97-AF65-F5344CB8AC3E}">
        <p14:creationId xmlns:p14="http://schemas.microsoft.com/office/powerpoint/2010/main" val="3808629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Attestation acts as a gatekeeper, ensuring only trusted workloads and devices can join and interact within a cloud ecosystem. By cryptographically verifying the integrity of entities, attestation reduces the attack surface caused by compromised or misconfigured components. It forms a continuous trust verification process critical in zero-trust architectures and is essential for dynamic, ephemeral cloud workloads that require rapid yet secure identity validation.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6</a:t>
            </a:fld>
            <a:endParaRPr lang="en-GB"/>
          </a:p>
        </p:txBody>
      </p:sp>
    </p:spTree>
    <p:extLst>
      <p:ext uri="{BB962C8B-B14F-4D97-AF65-F5344CB8AC3E}">
        <p14:creationId xmlns:p14="http://schemas.microsoft.com/office/powerpoint/2010/main" val="1873266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Overview and Key Principles of SPIFFE, SPIFFE Identity Model: SPIFFE ID and Workloads, How SPIFFE Supports Cloud-Native Environments</a:t>
            </a:r>
          </a:p>
        </p:txBody>
      </p:sp>
      <p:sp>
        <p:nvSpPr>
          <p:cNvPr id="4" name="Slide Number Placeholder 3"/>
          <p:cNvSpPr>
            <a:spLocks noGrp="1"/>
          </p:cNvSpPr>
          <p:nvPr>
            <p:ph type="sldNum" sz="quarter" idx="5"/>
          </p:nvPr>
        </p:nvSpPr>
        <p:spPr/>
        <p:txBody>
          <a:bodyPr/>
          <a:lstStyle/>
          <a:p>
            <a:fld id="{E4BAAD00-3A39-48EE-8F8A-179574504C9D}" type="slidenum">
              <a:rPr lang="en-GB" smtClean="0"/>
              <a:t>7</a:t>
            </a:fld>
            <a:endParaRPr lang="en-GB"/>
          </a:p>
        </p:txBody>
      </p:sp>
    </p:spTree>
    <p:extLst>
      <p:ext uri="{BB962C8B-B14F-4D97-AF65-F5344CB8AC3E}">
        <p14:creationId xmlns:p14="http://schemas.microsoft.com/office/powerpoint/2010/main" val="2033265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SPIFFE is an open-source framework aimed at providing secure identities to all workloads running in production, irrespective of platform or environment. Key principles include workload identity issuance by a secure control plane, platform agnosticism, and automated identity rotation. SPIFFE abstracts and unifies identity across heterogeneous cloud-native environments, enabling seamless authentication and authorization.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8</a:t>
            </a:fld>
            <a:endParaRPr lang="en-GB"/>
          </a:p>
        </p:txBody>
      </p:sp>
    </p:spTree>
    <p:extLst>
      <p:ext uri="{BB962C8B-B14F-4D97-AF65-F5344CB8AC3E}">
        <p14:creationId xmlns:p14="http://schemas.microsoft.com/office/powerpoint/2010/main" val="3917272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The SPIFFE identity model centers around the SPIFFE ID—a structured URI used as a cryptographically verifiable identity for each workload. This identity enables workloads to authenticate without human intervention and provides fine-grained access controls. The framework includes SPIRE, an implementation to issue and manage these identities dynamically for workloads. The model effectively decouples identity from the underlying infrastructure, facilitating portability and security.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9</a:t>
            </a:fld>
            <a:endParaRPr lang="en-GB"/>
          </a:p>
        </p:txBody>
      </p:sp>
    </p:spTree>
    <p:extLst>
      <p:ext uri="{BB962C8B-B14F-4D97-AF65-F5344CB8AC3E}">
        <p14:creationId xmlns:p14="http://schemas.microsoft.com/office/powerpoint/2010/main" val="3706085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SPIFFE supports cloud-native scenarios by providing workload-centric identity independent of IP address or hostnames, which are dynamic in containerized and microservices architectures. It integrates with orchestration platforms like Kubernetes and service meshes, enabling secure service-to-service communication using mutual TLS with SPIFFE IDs. This reduces operational overhead and enhances security posture by offering continuous, automated identity verification.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10</a:t>
            </a:fld>
            <a:endParaRPr lang="en-GB"/>
          </a:p>
        </p:txBody>
      </p:sp>
    </p:spTree>
    <p:extLst>
      <p:ext uri="{BB962C8B-B14F-4D97-AF65-F5344CB8AC3E}">
        <p14:creationId xmlns:p14="http://schemas.microsoft.com/office/powerpoint/2010/main" val="3107152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Workflow of Combining Attestation and SPIFFE, Benefits of Integrating Attestation with Workload Identity, Common Use Cases and Scenarios</a:t>
            </a:r>
          </a:p>
        </p:txBody>
      </p:sp>
      <p:sp>
        <p:nvSpPr>
          <p:cNvPr id="4" name="Slide Number Placeholder 3"/>
          <p:cNvSpPr>
            <a:spLocks noGrp="1"/>
          </p:cNvSpPr>
          <p:nvPr>
            <p:ph type="sldNum" sz="quarter" idx="5"/>
          </p:nvPr>
        </p:nvSpPr>
        <p:spPr/>
        <p:txBody>
          <a:bodyPr/>
          <a:lstStyle/>
          <a:p>
            <a:fld id="{E4BAAD00-3A39-48EE-8F8A-179574504C9D}" type="slidenum">
              <a:rPr lang="en-GB" smtClean="0"/>
              <a:t>11</a:t>
            </a:fld>
            <a:endParaRPr lang="en-GB"/>
          </a:p>
        </p:txBody>
      </p:sp>
    </p:spTree>
    <p:extLst>
      <p:ext uri="{BB962C8B-B14F-4D97-AF65-F5344CB8AC3E}">
        <p14:creationId xmlns:p14="http://schemas.microsoft.com/office/powerpoint/2010/main" val="672508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Integrating attestation with SPIFFE involves a workflow where a workload first undergoes attestation to verify its authenticity and system integrity. Successful attestation triggers the issuance of a SPIFFE ID, binding the verified trustworthiness to the workload's identity. This integration ensures that only attested, trusted workloads receive identities to interact securely within a system, automating trust establishment in dynamic environments.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12</a:t>
            </a:fld>
            <a:endParaRPr lang="en-GB"/>
          </a:p>
        </p:txBody>
      </p:sp>
    </p:spTree>
    <p:extLst>
      <p:ext uri="{BB962C8B-B14F-4D97-AF65-F5344CB8AC3E}">
        <p14:creationId xmlns:p14="http://schemas.microsoft.com/office/powerpoint/2010/main" val="3248033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Combining attestation with workload identity issuance brings robust, cryptographically verifiable trust to cloud ecosystems. It mitigates risks of identity spoofing and unauthorized access by ensuring identities are bound to trustworthy system states. This integration strengthens zero-trust security models, reduces human error through automation, and enhances compliance by providing auditable proof-of-trust anchored in hardware and software integrity.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13</a:t>
            </a:fld>
            <a:endParaRPr lang="en-GB"/>
          </a:p>
        </p:txBody>
      </p:sp>
    </p:spTree>
    <p:extLst>
      <p:ext uri="{BB962C8B-B14F-4D97-AF65-F5344CB8AC3E}">
        <p14:creationId xmlns:p14="http://schemas.microsoft.com/office/powerpoint/2010/main" val="2707788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Common scenarios include securing service meshes where only attested workloads receive SPIFFE IDs for encrypted service-to-service calls, multi-cloud environments ensuring workload identities are interoperable and trusted across providers, and IoT deployments where device attestation maps to workload identities to prevent compromised devices from accessing networks. These use cases highlight how attestation+SPIFFE work together to secure identities at scale.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14</a:t>
            </a:fld>
            <a:endParaRPr lang="en-GB"/>
          </a:p>
        </p:txBody>
      </p:sp>
    </p:spTree>
    <p:extLst>
      <p:ext uri="{BB962C8B-B14F-4D97-AF65-F5344CB8AC3E}">
        <p14:creationId xmlns:p14="http://schemas.microsoft.com/office/powerpoint/2010/main" val="2473798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Deployment Considerations and Best Practices, Security Challenges and Mitigation Strategies, Future Trends in Attestation and SPIFFE</a:t>
            </a:r>
          </a:p>
        </p:txBody>
      </p:sp>
      <p:sp>
        <p:nvSpPr>
          <p:cNvPr id="4" name="Slide Number Placeholder 3"/>
          <p:cNvSpPr>
            <a:spLocks noGrp="1"/>
          </p:cNvSpPr>
          <p:nvPr>
            <p:ph type="sldNum" sz="quarter" idx="5"/>
          </p:nvPr>
        </p:nvSpPr>
        <p:spPr/>
        <p:txBody>
          <a:bodyPr/>
          <a:lstStyle/>
          <a:p>
            <a:fld id="{E4BAAD00-3A39-48EE-8F8A-179574504C9D}" type="slidenum">
              <a:rPr lang="en-GB" smtClean="0"/>
              <a:t>15</a:t>
            </a:fld>
            <a:endParaRPr lang="en-GB"/>
          </a:p>
        </p:txBody>
      </p:sp>
    </p:spTree>
    <p:extLst>
      <p:ext uri="{BB962C8B-B14F-4D97-AF65-F5344CB8AC3E}">
        <p14:creationId xmlns:p14="http://schemas.microsoft.com/office/powerpoint/2010/main" val="3297540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Effective deployment of attestation and SPIFFE requires careful integration with existing infrastructure, consideration of hardware attestation capabilities, and alignment with organizational security policies. Best practices include automating identity lifecycle management with SPIRE, leveraging hardware-based root of trust, and implementing continuous attestation to accommodate dynamic cloud workloads. Additionally, monitoring and logging attestation events improve operational visibility.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16</a:t>
            </a:fld>
            <a:endParaRPr lang="en-GB"/>
          </a:p>
        </p:txBody>
      </p:sp>
    </p:spTree>
    <p:extLst>
      <p:ext uri="{BB962C8B-B14F-4D97-AF65-F5344CB8AC3E}">
        <p14:creationId xmlns:p14="http://schemas.microsoft.com/office/powerpoint/2010/main" val="1519469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Challenges include potential attestation spoofing attacks, complexities in managing diverse hardware attestation capabilities, and risks posed by misconfigured identity issuance processes. Mitigation strategies involve using strong cryptographic primitives, multi-factor attestation combining hardware and software signals, regular auditing of attestation and SPIFFE systems, and fallback mechanisms to handle failures gracefully. Ensuring tight integration with broader security frameworks further reduces risks.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17</a:t>
            </a:fld>
            <a:endParaRPr lang="en-GB"/>
          </a:p>
        </p:txBody>
      </p:sp>
    </p:spTree>
    <p:extLst>
      <p:ext uri="{BB962C8B-B14F-4D97-AF65-F5344CB8AC3E}">
        <p14:creationId xmlns:p14="http://schemas.microsoft.com/office/powerpoint/2010/main" val="1395772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Looking ahead, attestation and SPIFFE are expected to evolve with advancements such as integration with confidential computing, support for decentralized identity models, and increased AI-driven anomaly detection in attestation results. The growing adoption of zero-trust architectures and multi-cloud strategies will further drive innovation in scalable, automated trust frameworks. SPIFFE standards may also expand to encompass broader identity claims beyond workload authentication.
Image source: AI-generated
</a:t>
            </a:r>
          </a:p>
        </p:txBody>
      </p:sp>
      <p:sp>
        <p:nvSpPr>
          <p:cNvPr id="4" name="Slide Number Placeholder 3"/>
          <p:cNvSpPr>
            <a:spLocks noGrp="1"/>
          </p:cNvSpPr>
          <p:nvPr>
            <p:ph type="sldNum" sz="quarter" idx="5"/>
          </p:nvPr>
        </p:nvSpPr>
        <p:spPr/>
        <p:txBody>
          <a:bodyPr/>
          <a:lstStyle/>
          <a:p>
            <a:fld id="{E4BAAD00-3A39-48EE-8F8A-179574504C9D}" type="slidenum">
              <a:rPr lang="en-GB" smtClean="0"/>
              <a:t>18</a:t>
            </a:fld>
            <a:endParaRPr lang="en-GB"/>
          </a:p>
        </p:txBody>
      </p:sp>
    </p:spTree>
    <p:extLst>
      <p:ext uri="{BB962C8B-B14F-4D97-AF65-F5344CB8AC3E}">
        <p14:creationId xmlns:p14="http://schemas.microsoft.com/office/powerpoint/2010/main" val="2301083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 summary, attestation plays a critical role in establishing trust within cloud environments by verifying hardware and software integrity. SPIFFE provides a robust framework for workload identity in cloud-native contexts. Integrating attestation with SPIFFE strengthens security, enabling reliable identity verification and seamless trust establishment. Embracing best practices and addressing challenges will pave the way for future advancements in cloud security.</a:t>
            </a:r>
          </a:p>
        </p:txBody>
      </p:sp>
      <p:sp>
        <p:nvSpPr>
          <p:cNvPr id="4" name="Slide Number Placeholder 3"/>
          <p:cNvSpPr>
            <a:spLocks noGrp="1"/>
          </p:cNvSpPr>
          <p:nvPr>
            <p:ph type="sldNum" sz="quarter" idx="5"/>
          </p:nvPr>
        </p:nvSpPr>
        <p:spPr/>
        <p:txBody>
          <a:bodyPr/>
          <a:lstStyle/>
          <a:p>
            <a:fld id="{E4BAAD00-3A39-48EE-8F8A-179574504C9D}" type="slidenum">
              <a:rPr lang="en-GB" smtClean="0"/>
              <a:t>19</a:t>
            </a:fld>
            <a:endParaRPr lang="en-GB"/>
          </a:p>
        </p:txBody>
      </p:sp>
    </p:spTree>
    <p:extLst>
      <p:ext uri="{BB962C8B-B14F-4D97-AF65-F5344CB8AC3E}">
        <p14:creationId xmlns:p14="http://schemas.microsoft.com/office/powerpoint/2010/main" val="138842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356D-861B-1215-7331-E20866D6DD5E}"/>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bg2"/>
                </a:solidFill>
              </a:defRPr>
            </a:lvl1pPr>
          </a:lstStyle>
          <a:p>
            <a:pPr lvl="0"/>
            <a:r>
              <a:rPr lang="en-US" dirty="0"/>
              <a:t>Click to edit Master title style</a:t>
            </a:r>
          </a:p>
        </p:txBody>
      </p:sp>
      <p:sp>
        <p:nvSpPr>
          <p:cNvPr id="25" name="Subtitle 2">
            <a:extLst>
              <a:ext uri="{FF2B5EF4-FFF2-40B4-BE49-F238E27FC236}">
                <a16:creationId xmlns:a16="http://schemas.microsoft.com/office/drawing/2014/main" id="{88E6D8A1-0938-C004-DFF5-861B4F29A7E0}"/>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21" name="Slide Number Placeholder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23" name="Footer Placeholder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22" name="Date Placeholder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4F1AC263-88EE-42CC-B640-B12BA856CF71}" type="datetime1">
              <a:rPr lang="en-US" smtClean="0"/>
              <a:pPr/>
              <a:t>3/16/2026</a:t>
            </a:fld>
            <a:endParaRPr lang="en-US"/>
          </a:p>
        </p:txBody>
      </p:sp>
      <p:cxnSp>
        <p:nvCxnSpPr>
          <p:cNvPr id="3" name="Straight Connector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Graphic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accent2"/>
                </a:solidFill>
              </a:endParaRPr>
            </a:p>
          </p:txBody>
        </p:sp>
        <p:sp>
          <p:nvSpPr>
            <p:cNvPr id="7" name="Graphic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accent2"/>
                </a:solidFill>
              </a:endParaRPr>
            </a:p>
          </p:txBody>
        </p:sp>
        <p:sp>
          <p:nvSpPr>
            <p:cNvPr id="8" name="Graphic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1094858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166274F4-CACA-1807-4344-CC206113F33E}"/>
              </a:ext>
            </a:extLst>
          </p:cNvPr>
          <p:cNvSpPr>
            <a:spLocks noGrp="1"/>
          </p:cNvSpPr>
          <p:nvPr>
            <p:ph type="title"/>
          </p:nvPr>
        </p:nvSpPr>
        <p:spPr>
          <a:xfrm>
            <a:off x="1524000" y="731520"/>
            <a:ext cx="10069483" cy="951766"/>
          </a:xfrm>
        </p:spPr>
        <p:txBody>
          <a:bodyPr anchor="b">
            <a:noAutofit/>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3/16/2026</a:t>
            </a:fld>
            <a:endParaRPr lang="en-US" dirty="0"/>
          </a:p>
        </p:txBody>
      </p:sp>
      <p:sp>
        <p:nvSpPr>
          <p:cNvPr id="19" name="Content Placeholder 7">
            <a:extLst>
              <a:ext uri="{FF2B5EF4-FFF2-40B4-BE49-F238E27FC236}">
                <a16:creationId xmlns:a16="http://schemas.microsoft.com/office/drawing/2014/main" id="{2BE2C27D-A45C-D805-CEC9-BD1962E88A0D}"/>
              </a:ext>
            </a:extLst>
          </p:cNvPr>
          <p:cNvSpPr>
            <a:spLocks noGrp="1"/>
          </p:cNvSpPr>
          <p:nvPr>
            <p:ph sz="quarter" idx="14"/>
          </p:nvPr>
        </p:nvSpPr>
        <p:spPr>
          <a:xfrm>
            <a:off x="1523999" y="1865430"/>
            <a:ext cx="10057019"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7801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Graphic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1">
            <a:extLst>
              <a:ext uri="{FF2B5EF4-FFF2-40B4-BE49-F238E27FC236}">
                <a16:creationId xmlns:a16="http://schemas.microsoft.com/office/drawing/2014/main" id="{18819DB6-C4B9-EEAC-9439-99B46B52A9F7}"/>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tx2"/>
                </a:solidFill>
              </a:defRPr>
            </a:lvl1pPr>
          </a:lstStyle>
          <a:p>
            <a:pPr lvl="0"/>
            <a:r>
              <a:rPr lang="en-US" dirty="0"/>
              <a:t>Click to edit Master title style</a:t>
            </a:r>
          </a:p>
        </p:txBody>
      </p:sp>
      <p:sp>
        <p:nvSpPr>
          <p:cNvPr id="6" name="Subtitle 2">
            <a:extLst>
              <a:ext uri="{FF2B5EF4-FFF2-40B4-BE49-F238E27FC236}">
                <a16:creationId xmlns:a16="http://schemas.microsoft.com/office/drawing/2014/main" id="{E44E26EC-3B2F-89C4-929E-5B4C7D8E8C37}"/>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5" name="Slide Number Placeholder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a:lstStyle>
            <a:lvl1pPr>
              <a:defRPr>
                <a:solidFill>
                  <a:schemeClr val="bg1">
                    <a:lumMod val="65000"/>
                  </a:schemeClr>
                </a:solidFill>
              </a:defRPr>
            </a:lvl1pPr>
          </a:lstStyle>
          <a:p>
            <a:r>
              <a:rPr lang="en-US"/>
              <a:t>Sample Footer Text</a:t>
            </a:r>
          </a:p>
        </p:txBody>
      </p:sp>
      <p:sp>
        <p:nvSpPr>
          <p:cNvPr id="9" name="Date Placeholder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a:lstStyle/>
          <a:p>
            <a:fld id="{9467FC12-63BB-4A63-9424-BFBF8E1D71D9}" type="datetime1">
              <a:rPr lang="en-US" smtClean="0"/>
              <a:t>3/16/2026</a:t>
            </a:fld>
            <a:endParaRPr lang="en-US"/>
          </a:p>
        </p:txBody>
      </p:sp>
      <p:cxnSp>
        <p:nvCxnSpPr>
          <p:cNvPr id="4" name="Straight Connector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62191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Graphic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1" name="Graphic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2" name="Graphic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
        <p:nvSpPr>
          <p:cNvPr id="8" name="Title 1">
            <a:extLst>
              <a:ext uri="{FF2B5EF4-FFF2-40B4-BE49-F238E27FC236}">
                <a16:creationId xmlns:a16="http://schemas.microsoft.com/office/drawing/2014/main" id="{8CEC42AA-27BF-B007-BB04-09C8C9EC4AB7}"/>
              </a:ext>
            </a:extLst>
          </p:cNvPr>
          <p:cNvSpPr>
            <a:spLocks noGrp="1"/>
          </p:cNvSpPr>
          <p:nvPr>
            <p:ph type="ctrTitle"/>
          </p:nvPr>
        </p:nvSpPr>
        <p:spPr>
          <a:xfrm>
            <a:off x="693824" y="1821900"/>
            <a:ext cx="10058376" cy="2303329"/>
          </a:xfrm>
        </p:spPr>
        <p:txBody>
          <a:bodyPr vert="horz" lIns="91440" tIns="45720" rIns="91440" bIns="45720" rtlCol="0" anchor="b">
            <a:noAutofit/>
          </a:bodyPr>
          <a:lstStyle>
            <a:lvl1pPr>
              <a:defRPr lang="en-US" sz="8000" dirty="0">
                <a:solidFill>
                  <a:schemeClr val="bg2"/>
                </a:solidFill>
              </a:defRPr>
            </a:lvl1pPr>
          </a:lstStyle>
          <a:p>
            <a:pPr lvl="0"/>
            <a:r>
              <a:rPr lang="en-US" dirty="0"/>
              <a:t>Click to edit Master title style</a:t>
            </a:r>
          </a:p>
        </p:txBody>
      </p:sp>
      <p:sp>
        <p:nvSpPr>
          <p:cNvPr id="7" name="Subtitle 2">
            <a:extLst>
              <a:ext uri="{FF2B5EF4-FFF2-40B4-BE49-F238E27FC236}">
                <a16:creationId xmlns:a16="http://schemas.microsoft.com/office/drawing/2014/main" id="{2D02356A-0FAC-18A7-430E-172D662A1E14}"/>
              </a:ext>
            </a:extLst>
          </p:cNvPr>
          <p:cNvSpPr>
            <a:spLocks noGrp="1"/>
          </p:cNvSpPr>
          <p:nvPr>
            <p:ph type="subTitle" idx="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07A3B59-4DAC-4AFE-874D-3A86EC3801A0}" type="datetime1">
              <a:rPr lang="en-US" smtClean="0"/>
              <a:pPr/>
              <a:t>3/16/2026</a:t>
            </a:fld>
            <a:endParaRPr lang="en-US"/>
          </a:p>
        </p:txBody>
      </p:sp>
    </p:spTree>
    <p:extLst>
      <p:ext uri="{BB962C8B-B14F-4D97-AF65-F5344CB8AC3E}">
        <p14:creationId xmlns:p14="http://schemas.microsoft.com/office/powerpoint/2010/main" val="154218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Graphic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6" name="Rectangle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1" y="4830149"/>
            <a:ext cx="9973455" cy="938784"/>
          </a:xfrm>
        </p:spPr>
        <p:txBody>
          <a:bodyPr vert="horz" lIns="91440" tIns="45720" rIns="91440" bIns="45720" rtlCol="0" anchor="b">
            <a:no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1" y="5799255"/>
            <a:ext cx="9973455" cy="457200"/>
          </a:xfrm>
        </p:spPr>
        <p:txBody>
          <a:bodyPr vert="horz" lIns="91440" tIns="45720" rIns="91440" bIns="45720" rtlCol="0">
            <a:noAutofit/>
          </a:bodyPr>
          <a:lstStyle>
            <a:lvl1pPr marL="0" indent="0">
              <a:buNone/>
              <a:defRPr lang="en-US" sz="2000" dirty="0"/>
            </a:lvl1pPr>
          </a:lstStyle>
          <a:p>
            <a:pPr lvl="0"/>
            <a:r>
              <a:rPr lang="en-US" dirty="0"/>
              <a:t>Click to edit Master subtitle style</a:t>
            </a:r>
          </a:p>
        </p:txBody>
      </p:sp>
      <p:sp>
        <p:nvSpPr>
          <p:cNvPr id="16" name="Picture Placeholder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88334B-5C34-4E7E-A4B0-3A19575F6DD8}" type="datetime1">
              <a:rPr lang="en-US" smtClean="0"/>
              <a:t>3/16/2026</a:t>
            </a:fld>
            <a:endParaRPr lang="en-US"/>
          </a:p>
        </p:txBody>
      </p:sp>
    </p:spTree>
    <p:extLst>
      <p:ext uri="{BB962C8B-B14F-4D97-AF65-F5344CB8AC3E}">
        <p14:creationId xmlns:p14="http://schemas.microsoft.com/office/powerpoint/2010/main" val="13278054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9A38D88-7881-D4FF-5259-971983942C32}"/>
              </a:ext>
            </a:extLst>
          </p:cNvPr>
          <p:cNvSpPr>
            <a:spLocks noGrp="1"/>
          </p:cNvSpPr>
          <p:nvPr>
            <p:ph type="ctrTitle"/>
          </p:nvPr>
        </p:nvSpPr>
        <p:spPr>
          <a:xfrm>
            <a:off x="4267200" y="1769161"/>
            <a:ext cx="7284046" cy="2428125"/>
          </a:xfrm>
        </p:spPr>
        <p:txBody>
          <a:bodyPr vert="horz" lIns="91440" tIns="45720" rIns="91440" bIns="45720" rtlCol="0" anchor="b">
            <a:noAutofit/>
          </a:bodyPr>
          <a:lstStyle>
            <a:lvl1pPr>
              <a:defRPr lang="en-US" sz="6000" dirty="0">
                <a:solidFill>
                  <a:schemeClr val="tx2"/>
                </a:solidFill>
              </a:defRPr>
            </a:lvl1pPr>
          </a:lstStyle>
          <a:p>
            <a:pPr lvl="0"/>
            <a:r>
              <a:rPr lang="en-US" dirty="0"/>
              <a:t>Click to edit Master title style</a:t>
            </a:r>
          </a:p>
        </p:txBody>
      </p:sp>
      <p:sp>
        <p:nvSpPr>
          <p:cNvPr id="17" name="Subtitle 2">
            <a:extLst>
              <a:ext uri="{FF2B5EF4-FFF2-40B4-BE49-F238E27FC236}">
                <a16:creationId xmlns:a16="http://schemas.microsoft.com/office/drawing/2014/main" id="{D3DF9455-AAB1-80EB-CDF7-31CB3D9C4307}"/>
              </a:ext>
            </a:extLst>
          </p:cNvPr>
          <p:cNvSpPr>
            <a:spLocks noGrp="1"/>
          </p:cNvSpPr>
          <p:nvPr>
            <p:ph type="subTitle" idx="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dirty="0"/>
              <a:t>Click to edit Master subtitle style</a:t>
            </a:r>
          </a:p>
        </p:txBody>
      </p:sp>
      <p:sp>
        <p:nvSpPr>
          <p:cNvPr id="9" name="Picture Placeholder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a:lstStyle/>
          <a:p>
            <a:r>
              <a:rPr lang="en-US"/>
              <a:t>Sample Footer Text</a:t>
            </a:r>
          </a:p>
        </p:txBody>
      </p:sp>
      <p:sp>
        <p:nvSpPr>
          <p:cNvPr id="12" name="Date Placeholder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3/16/2026</a:t>
            </a:fld>
            <a:endParaRPr lang="en-US"/>
          </a:p>
        </p:txBody>
      </p:sp>
      <p:sp>
        <p:nvSpPr>
          <p:cNvPr id="15" name="Slide Number Placeholder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4" name="Graphic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5" name="Graphic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2160367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81600" y="1769161"/>
            <a:ext cx="6369646" cy="2428125"/>
          </a:xfrm>
        </p:spPr>
        <p:txBody>
          <a:bodyPr vert="horz" lIns="91440" tIns="45720" rIns="91440" bIns="45720" rtlCol="0" anchor="b">
            <a:noAutofit/>
          </a:bodyPr>
          <a:lstStyle>
            <a:lvl1pPr>
              <a:defRPr lang="en-US" sz="6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70" name="Picture Placeholder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bg1"/>
                </a:solidFill>
                <a:effectLst/>
              </a:defRPr>
            </a:lvl1pPr>
          </a:lstStyle>
          <a:p>
            <a:fld id="{1F92EF8E-B9EB-49F8-83E1-F362FA442011}" type="datetime1">
              <a:rPr lang="en-US" smtClean="0"/>
              <a:pPr/>
              <a:t>3/16/2026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71" name="Group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Graphic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73" name="Graphic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74" name="Graphic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40950153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a:extLst>
              <a:ext uri="{FF2B5EF4-FFF2-40B4-BE49-F238E27FC236}">
                <a16:creationId xmlns:a16="http://schemas.microsoft.com/office/drawing/2014/main" id="{D244D47C-238B-4C58-A3EA-D08BC92B1454}"/>
              </a:ext>
            </a:extLst>
          </p:cNvPr>
          <p:cNvSpPr>
            <a:spLocks noGrp="1"/>
          </p:cNvSpPr>
          <p:nvPr>
            <p:ph type="ctrTitle"/>
          </p:nvPr>
        </p:nvSpPr>
        <p:spPr>
          <a:xfrm>
            <a:off x="731520" y="1769161"/>
            <a:ext cx="6347479" cy="2428125"/>
          </a:xfrm>
        </p:spPr>
        <p:txBody>
          <a:bodyPr vert="horz" lIns="91440" tIns="45720" rIns="91440" bIns="45720" rtlCol="0" anchor="b">
            <a:noAutofit/>
          </a:bodyPr>
          <a:lstStyle>
            <a:lvl1pPr>
              <a:defRPr lang="en-US" sz="6000" dirty="0">
                <a:solidFill>
                  <a:schemeClr val="tx2"/>
                </a:solidFill>
              </a:defRPr>
            </a:lvl1pPr>
          </a:lstStyle>
          <a:p>
            <a:pPr lvl="0"/>
            <a:r>
              <a:rPr lang="en-US" dirty="0"/>
              <a:t>Click to edit Master title style</a:t>
            </a:r>
          </a:p>
        </p:txBody>
      </p:sp>
      <p:sp>
        <p:nvSpPr>
          <p:cNvPr id="43" name="Subtitle 2">
            <a:extLst>
              <a:ext uri="{FF2B5EF4-FFF2-40B4-BE49-F238E27FC236}">
                <a16:creationId xmlns:a16="http://schemas.microsoft.com/office/drawing/2014/main" id="{BE024BDA-EDE4-950C-5CAA-808A8A9709BC}"/>
              </a:ext>
            </a:extLst>
          </p:cNvPr>
          <p:cNvSpPr>
            <a:spLocks noGrp="1"/>
          </p:cNvSpPr>
          <p:nvPr>
            <p:ph type="subTitle" idx="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dirty="0"/>
              <a:t>Click to edit Master subtitle style</a:t>
            </a:r>
          </a:p>
        </p:txBody>
      </p:sp>
      <p:sp>
        <p:nvSpPr>
          <p:cNvPr id="15" name="Footer Placeholder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a:lstStyle/>
          <a:p>
            <a:r>
              <a:rPr lang="en-US" dirty="0"/>
              <a:t>Sample Footer Text</a:t>
            </a:r>
          </a:p>
        </p:txBody>
      </p:sp>
      <p:sp>
        <p:nvSpPr>
          <p:cNvPr id="14" name="Date Placeholder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a:lstStyle>
            <a:lvl1pPr>
              <a:defRPr>
                <a:solidFill>
                  <a:schemeClr val="bg1">
                    <a:lumMod val="65000"/>
                  </a:schemeClr>
                </a:solidFill>
                <a:effectLst/>
              </a:defRPr>
            </a:lvl1pPr>
          </a:lstStyle>
          <a:p>
            <a:fld id="{1F92EF8E-B9EB-49F8-83E1-F362FA442011}" type="datetime1">
              <a:rPr lang="en-US" smtClean="0"/>
              <a:pPr/>
              <a:t>3/16/2026</a:t>
            </a:fld>
            <a:endParaRPr lang="en-US"/>
          </a:p>
        </p:txBody>
      </p:sp>
      <p:sp>
        <p:nvSpPr>
          <p:cNvPr id="16" name="Slide Number Placeholder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a:lstStyle/>
          <a:p>
            <a:fld id="{AEAA3239-9EA4-4A65-A281-97F994456D9F}" type="slidenum">
              <a:rPr lang="en-US" smtClean="0"/>
              <a:t>‹#›</a:t>
            </a:fld>
            <a:endParaRPr lang="en-US"/>
          </a:p>
        </p:txBody>
      </p:sp>
      <p:sp>
        <p:nvSpPr>
          <p:cNvPr id="20" name="Picture Placeholder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Graphic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5" name="Graphic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6" name="Graphic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4671434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vl1pPr>
          </a:lstStyle>
          <a:p>
            <a:pPr lvl="0"/>
            <a:r>
              <a:rPr lang="en-US" dirty="0"/>
              <a:t>Section Header</a:t>
            </a:r>
          </a:p>
        </p:txBody>
      </p:sp>
      <p:sp>
        <p:nvSpPr>
          <p:cNvPr id="8" name="Slide Number Placeholder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7" name="Footer Placeholder 6">
            <a:extLst>
              <a:ext uri="{FF2B5EF4-FFF2-40B4-BE49-F238E27FC236}">
                <a16:creationId xmlns:a16="http://schemas.microsoft.com/office/drawing/2014/main" id="{0F88A337-5DA0-D43A-9171-0BE54F3B986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DE5E48CF-6B97-2628-4E35-BBA37CF30176}"/>
              </a:ext>
            </a:extLst>
          </p:cNvPr>
          <p:cNvSpPr>
            <a:spLocks noGrp="1"/>
          </p:cNvSpPr>
          <p:nvPr>
            <p:ph type="dt" sz="half" idx="10"/>
          </p:nvPr>
        </p:nvSpPr>
        <p:spPr/>
        <p:txBody>
          <a:bodyPr/>
          <a:lstStyle>
            <a:lvl1pPr>
              <a:defRPr>
                <a:solidFill>
                  <a:schemeClr val="tx1"/>
                </a:solidFill>
              </a:defRPr>
            </a:lvl1pPr>
          </a:lstStyle>
          <a:p>
            <a:fld id="{7DF4F7BB-A1DF-4BD2-8D5B-CA9EB40127CE}" type="datetime1">
              <a:rPr lang="en-US" smtClean="0"/>
              <a:pPr/>
              <a:t>3/16/2026</a:t>
            </a:fld>
            <a:endParaRPr lang="en-US"/>
          </a:p>
        </p:txBody>
      </p:sp>
      <p:grpSp>
        <p:nvGrpSpPr>
          <p:cNvPr id="4" name="Group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Graphic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6" name="Graphic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cxnSp>
        <p:nvCxnSpPr>
          <p:cNvPr id="11" name="Straight Connector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415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anchor="b">
            <a:normAutofit/>
          </a:bodyPr>
          <a:lstStyle>
            <a:lvl1pPr>
              <a:defRPr sz="6000">
                <a:solidFill>
                  <a:schemeClr val="bg2"/>
                </a:solidFill>
              </a:defRPr>
            </a:lvl1pPr>
          </a:lstStyle>
          <a:p>
            <a:r>
              <a:rPr lang="en-US" dirty="0"/>
              <a:t>Agenda</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7048" y="2971800"/>
            <a:ext cx="8229603" cy="3200399"/>
          </a:xfrm>
        </p:spPr>
        <p:txBody>
          <a:bodyPr>
            <a:normAutofit/>
          </a:bodyPr>
          <a:lstStyle>
            <a:lvl1pPr marL="457200" indent="-457200">
              <a:buFont typeface="+mj-lt"/>
              <a:buAutoNum type="arabicPeriod"/>
              <a:defRPr sz="1800">
                <a:solidFill>
                  <a:schemeClr val="bg1"/>
                </a:solidFill>
              </a:defRPr>
            </a:lvl1pPr>
            <a:lvl2pPr marL="685800" indent="-457200">
              <a:buFont typeface="+mj-lt"/>
              <a:buAutoNum type="arabicPeriod"/>
              <a:defRPr sz="1600">
                <a:solidFill>
                  <a:schemeClr val="bg1"/>
                </a:solidFill>
              </a:defRPr>
            </a:lvl2pPr>
            <a:lvl3pPr marL="800100" indent="-342900">
              <a:buFont typeface="+mj-lt"/>
              <a:buAutoNum type="arabicPeriod"/>
              <a:defRPr sz="1400">
                <a:solidFill>
                  <a:schemeClr val="bg1"/>
                </a:solidFill>
              </a:defRPr>
            </a:lvl3pPr>
            <a:lvl4pPr marL="1028700" indent="-342900">
              <a:buFont typeface="+mj-lt"/>
              <a:buAutoNum type="arabicPeriod"/>
              <a:defRPr sz="1400">
                <a:solidFill>
                  <a:schemeClr val="bg1"/>
                </a:solidFill>
              </a:defRPr>
            </a:lvl4pPr>
            <a:lvl5pPr marL="1257300" indent="-342900">
              <a:buFont typeface="+mj-lt"/>
              <a:buAutoNum type="arabicPeriod"/>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1"/>
                </a:solidFill>
              </a:defRPr>
            </a:lvl1pPr>
          </a:lstStyle>
          <a:p>
            <a:fld id="{4F1AC263-88EE-42CC-B640-B12BA856CF71}" type="datetime1">
              <a:rPr lang="en-US" smtClean="0"/>
              <a:pPr/>
              <a:t>3/16/2026</a:t>
            </a:fld>
            <a:endParaRPr lang="en-US"/>
          </a:p>
        </p:txBody>
      </p:sp>
      <p:grpSp>
        <p:nvGrpSpPr>
          <p:cNvPr id="32" name="Group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Graphic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4" name="Graphic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5" name="Graphic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cxnSp>
        <p:nvCxnSpPr>
          <p:cNvPr id="6" name="Straight Connector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551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anchor="b">
            <a:normAutofit/>
          </a:bodyPr>
          <a:lstStyle>
            <a:lvl1pPr>
              <a:defRPr sz="6000">
                <a:solidFill>
                  <a:schemeClr val="tx2"/>
                </a:solidFill>
              </a:defRPr>
            </a:lvl1pPr>
          </a:lstStyle>
          <a:p>
            <a:r>
              <a:rPr lang="en-US" dirty="0"/>
              <a:t>Agenda</a:t>
            </a:r>
          </a:p>
        </p:txBody>
      </p:sp>
      <p:sp>
        <p:nvSpPr>
          <p:cNvPr id="17" name="Slide Number Placeholder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3" name="Picture Placeholder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21" name="Content Placeholder 6">
            <a:extLst>
              <a:ext uri="{FF2B5EF4-FFF2-40B4-BE49-F238E27FC236}">
                <a16:creationId xmlns:a16="http://schemas.microsoft.com/office/drawing/2014/main" id="{C3E55B71-84F9-223B-46EC-202E6DCC1E5C}"/>
              </a:ext>
            </a:extLst>
          </p:cNvPr>
          <p:cNvSpPr>
            <a:spLocks noGrp="1"/>
          </p:cNvSpPr>
          <p:nvPr>
            <p:ph sz="quarter" idx="15"/>
          </p:nvPr>
        </p:nvSpPr>
        <p:spPr>
          <a:xfrm>
            <a:off x="5668946" y="2971800"/>
            <a:ext cx="5910417" cy="3200399"/>
          </a:xfrm>
        </p:spPr>
        <p:txBody>
          <a:bodyPr>
            <a:normAutofit/>
          </a:bodyPr>
          <a:lstStyle>
            <a:lvl1pPr marL="457200" indent="-457200">
              <a:buFont typeface="+mj-lt"/>
              <a:buAutoNum type="arabicPeriod"/>
              <a:defRPr sz="1800">
                <a:solidFill>
                  <a:schemeClr val="tx2"/>
                </a:solidFill>
              </a:defRPr>
            </a:lvl1pPr>
            <a:lvl2pPr marL="685800" indent="-457200">
              <a:buFont typeface="+mj-lt"/>
              <a:buAutoNum type="arabicPeriod"/>
              <a:defRPr sz="1600">
                <a:solidFill>
                  <a:schemeClr val="tx2"/>
                </a:solidFill>
              </a:defRPr>
            </a:lvl2pPr>
            <a:lvl3pPr marL="800100" indent="-342900">
              <a:buFont typeface="+mj-lt"/>
              <a:buAutoNum type="arabicPeriod"/>
              <a:defRPr sz="1400">
                <a:solidFill>
                  <a:schemeClr val="tx2"/>
                </a:solidFill>
              </a:defRPr>
            </a:lvl3pPr>
            <a:lvl4pPr marL="1028700" indent="-342900">
              <a:buFont typeface="+mj-lt"/>
              <a:buAutoNum type="arabicPeriod"/>
              <a:defRPr sz="1400">
                <a:solidFill>
                  <a:schemeClr val="tx2"/>
                </a:solidFill>
              </a:defRPr>
            </a:lvl4pPr>
            <a:lvl5pPr marL="1257300" indent="-342900">
              <a:buFont typeface="+mj-lt"/>
              <a:buAutoNum type="arabicPeriod"/>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a:lstStyle/>
          <a:p>
            <a:fld id="{68A32F6A-E7E2-4607-B207-B787B539B854}" type="datetime1">
              <a:rPr lang="en-US" smtClean="0"/>
              <a:t>3/16/2026</a:t>
            </a:fld>
            <a:endParaRPr lang="en-US"/>
          </a:p>
        </p:txBody>
      </p:sp>
      <p:grpSp>
        <p:nvGrpSpPr>
          <p:cNvPr id="44" name="Group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Graphic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6" name="Graphic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47" name="Graphic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cxnSp>
        <p:nvCxnSpPr>
          <p:cNvPr id="2" name="Straight Connector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465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87F8542-2E37-60E4-B73F-B9F05372BF63}"/>
              </a:ext>
            </a:extLst>
          </p:cNvPr>
          <p:cNvSpPr>
            <a:spLocks noGrp="1"/>
          </p:cNvSpPr>
          <p:nvPr>
            <p:ph type="title"/>
          </p:nvPr>
        </p:nvSpPr>
        <p:spPr>
          <a:xfrm>
            <a:off x="1527048" y="685800"/>
            <a:ext cx="9052560" cy="1508760"/>
          </a:xfrm>
        </p:spPr>
        <p:txBody>
          <a:body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96D523BE-BDE0-144E-0534-0A316EF9F17A}"/>
              </a:ext>
            </a:extLst>
          </p:cNvPr>
          <p:cNvSpPr>
            <a:spLocks noGrp="1"/>
          </p:cNvSpPr>
          <p:nvPr>
            <p:ph sz="quarter" idx="14"/>
          </p:nvPr>
        </p:nvSpPr>
        <p:spPr>
          <a:xfrm>
            <a:off x="1523999" y="2286000"/>
            <a:ext cx="4572001" cy="22860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3/16/2026</a:t>
            </a:fld>
            <a:endParaRPr lang="en-US"/>
          </a:p>
        </p:txBody>
      </p:sp>
      <p:grpSp>
        <p:nvGrpSpPr>
          <p:cNvPr id="12" name="Group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Graphic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4" name="Graphic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5" name="Graphic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228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3999"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523998" y="2286000"/>
            <a:ext cx="6035040" cy="292608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3/16/2026</a:t>
            </a:fld>
            <a:endParaRPr lang="en-US"/>
          </a:p>
        </p:txBody>
      </p:sp>
      <p:grpSp>
        <p:nvGrpSpPr>
          <p:cNvPr id="16" name="Group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Graphic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8" name="Graphic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4681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2"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Content Placeholder 7">
            <a:extLst>
              <a:ext uri="{FF2B5EF4-FFF2-40B4-BE49-F238E27FC236}">
                <a16:creationId xmlns:a16="http://schemas.microsoft.com/office/drawing/2014/main" id="{BE7670AD-1080-B1DD-DE49-930AF9336CA0}"/>
              </a:ext>
            </a:extLst>
          </p:cNvPr>
          <p:cNvSpPr>
            <a:spLocks noGrp="1"/>
          </p:cNvSpPr>
          <p:nvPr>
            <p:ph sz="quarter" idx="14"/>
          </p:nvPr>
        </p:nvSpPr>
        <p:spPr>
          <a:xfrm>
            <a:off x="1524002" y="2286000"/>
            <a:ext cx="6934201" cy="329184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3/16/2026</a:t>
            </a:fld>
            <a:endParaRPr lang="en-US"/>
          </a:p>
        </p:txBody>
      </p:sp>
      <p:grpSp>
        <p:nvGrpSpPr>
          <p:cNvPr id="17" name="Group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Graphic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9" name="Graphic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0" name="Graphic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3" name="Straight Connector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1030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1672C7-A17C-A024-9EB7-E09DE65A204E}"/>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50AC8C5D-A77C-17F7-AF84-8B92D28482C4}"/>
              </a:ext>
            </a:extLst>
          </p:cNvPr>
          <p:cNvSpPr>
            <a:spLocks noGrp="1"/>
          </p:cNvSpPr>
          <p:nvPr>
            <p:ph sz="quarter" idx="14"/>
          </p:nvPr>
        </p:nvSpPr>
        <p:spPr>
          <a:xfrm>
            <a:off x="1524000" y="2286000"/>
            <a:ext cx="841248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3/16/2026</a:t>
            </a:fld>
            <a:endParaRPr lang="en-US"/>
          </a:p>
        </p:txBody>
      </p:sp>
      <p:cxnSp>
        <p:nvCxnSpPr>
          <p:cNvPr id="2" name="Straight Connector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492914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64D38536-57AB-5EAB-9CE8-9796DAF18277}"/>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2160C0A1-5692-F2A8-A18C-A2194E5352A1}"/>
              </a:ext>
            </a:extLst>
          </p:cNvPr>
          <p:cNvSpPr>
            <a:spLocks noGrp="1"/>
          </p:cNvSpPr>
          <p:nvPr>
            <p:ph sz="quarter" idx="14"/>
          </p:nvPr>
        </p:nvSpPr>
        <p:spPr>
          <a:xfrm>
            <a:off x="1523998" y="2286000"/>
            <a:ext cx="1005840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3/16/2026</a:t>
            </a:fld>
            <a:endParaRPr lang="en-US"/>
          </a:p>
        </p:txBody>
      </p:sp>
      <p:cxnSp>
        <p:nvCxnSpPr>
          <p:cNvPr id="2" name="Straight Connector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Graphic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314578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DE647DC-5A18-3C36-1F44-304B72FEDC97}"/>
              </a:ext>
            </a:extLst>
          </p:cNvPr>
          <p:cNvSpPr>
            <a:spLocks noGrp="1"/>
          </p:cNvSpPr>
          <p:nvPr>
            <p:ph type="title"/>
          </p:nvPr>
        </p:nvSpPr>
        <p:spPr>
          <a:xfrm>
            <a:off x="4267200" y="731520"/>
            <a:ext cx="6423565" cy="914400"/>
          </a:xfrm>
        </p:spPr>
        <p:txBody>
          <a:bodyPr anchor="b">
            <a:noAutofit/>
          </a:bodyPr>
          <a:lstStyle/>
          <a:p>
            <a:r>
              <a:rPr lang="en-US" dirty="0"/>
              <a:t>Click to edit Master title style</a:t>
            </a:r>
          </a:p>
        </p:txBody>
      </p:sp>
      <p:sp>
        <p:nvSpPr>
          <p:cNvPr id="21" name="Rectangle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Content Placeholder 7">
            <a:extLst>
              <a:ext uri="{FF2B5EF4-FFF2-40B4-BE49-F238E27FC236}">
                <a16:creationId xmlns:a16="http://schemas.microsoft.com/office/drawing/2014/main" id="{D2B645B5-BDAD-38D3-990B-F959B4B803E1}"/>
              </a:ext>
            </a:extLst>
          </p:cNvPr>
          <p:cNvSpPr>
            <a:spLocks noGrp="1"/>
          </p:cNvSpPr>
          <p:nvPr>
            <p:ph sz="quarter" idx="14"/>
          </p:nvPr>
        </p:nvSpPr>
        <p:spPr>
          <a:xfrm>
            <a:off x="426720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a:lstStyle/>
          <a:p>
            <a:fld id="{9CBB6888-43ED-4D3A-B8DA-89EF29644561}" type="datetime1">
              <a:rPr lang="en-US" smtClean="0"/>
              <a:t>3/16/2026</a:t>
            </a:fld>
            <a:endParaRPr lang="en-US"/>
          </a:p>
        </p:txBody>
      </p:sp>
      <p:sp>
        <p:nvSpPr>
          <p:cNvPr id="27" name="Slide Number Placeholder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a:lstStyle/>
          <a:p>
            <a:fld id="{AEAA3239-9EA4-4A65-A281-97F994456D9F}" type="slidenum">
              <a:rPr lang="en-US" smtClean="0"/>
              <a:t>‹#›</a:t>
            </a:fld>
            <a:endParaRPr lang="en-US"/>
          </a:p>
        </p:txBody>
      </p:sp>
      <p:grpSp>
        <p:nvGrpSpPr>
          <p:cNvPr id="23" name="Group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Graphic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25" name="Graphic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6" name="Graphic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127395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766037FA-C85A-8CB7-2972-6A61D955B79F}"/>
              </a:ext>
            </a:extLst>
          </p:cNvPr>
          <p:cNvSpPr>
            <a:spLocks noGrp="1"/>
          </p:cNvSpPr>
          <p:nvPr>
            <p:ph type="title"/>
          </p:nvPr>
        </p:nvSpPr>
        <p:spPr>
          <a:xfrm>
            <a:off x="731520" y="731520"/>
            <a:ext cx="6423565" cy="914400"/>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a:lstStyle/>
          <a:p>
            <a:r>
              <a:rPr lang="en-US" dirty="0"/>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a:lstStyle/>
          <a:p>
            <a:fld id="{27C7479B-2077-4468-85E0-F9294B46DEAE}" type="datetime1">
              <a:rPr lang="en-US" smtClean="0"/>
              <a:t>3/16/2026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a:lstStyle/>
          <a:p>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Graphic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8606028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2" name="Graphic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3" name="Graphic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21" name="Rectangle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18AAE811-FEB8-95DC-B043-E131BEA52FF1}"/>
              </a:ext>
            </a:extLst>
          </p:cNvPr>
          <p:cNvSpPr>
            <a:spLocks noGrp="1"/>
          </p:cNvSpPr>
          <p:nvPr>
            <p:ph type="title"/>
          </p:nvPr>
        </p:nvSpPr>
        <p:spPr>
          <a:xfrm>
            <a:off x="3810000" y="731520"/>
            <a:ext cx="6858000" cy="914400"/>
          </a:xfrm>
        </p:spPr>
        <p:txBody>
          <a:bodyPr anchor="b">
            <a:noAutofit/>
          </a:bodyPr>
          <a:lstStyle/>
          <a:p>
            <a:r>
              <a:rPr lang="en-US" dirty="0"/>
              <a:t>Click to edit Master title style</a:t>
            </a:r>
          </a:p>
        </p:txBody>
      </p:sp>
      <p:sp>
        <p:nvSpPr>
          <p:cNvPr id="22" name="Picture Placeholder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a:lstStyle>
            <a:lvl1pPr marL="0" indent="0">
              <a:buNone/>
              <a:defRPr/>
            </a:lvl1pPr>
          </a:lstStyle>
          <a:p>
            <a:r>
              <a:rPr lang="en-US" dirty="0"/>
              <a:t>  </a:t>
            </a:r>
          </a:p>
        </p:txBody>
      </p:sp>
      <p:sp>
        <p:nvSpPr>
          <p:cNvPr id="24" name="Content Placeholder 7">
            <a:extLst>
              <a:ext uri="{FF2B5EF4-FFF2-40B4-BE49-F238E27FC236}">
                <a16:creationId xmlns:a16="http://schemas.microsoft.com/office/drawing/2014/main" id="{D9F3B242-0007-0319-DD0E-C53F1CE59074}"/>
              </a:ext>
            </a:extLst>
          </p:cNvPr>
          <p:cNvSpPr>
            <a:spLocks noGrp="1"/>
          </p:cNvSpPr>
          <p:nvPr>
            <p:ph sz="quarter" idx="14"/>
          </p:nvPr>
        </p:nvSpPr>
        <p:spPr>
          <a:xfrm>
            <a:off x="381000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Footer Placeholder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a:lstStyle/>
          <a:p>
            <a:r>
              <a:rPr lang="en-US"/>
              <a:t>Sample Footer Text</a:t>
            </a:r>
          </a:p>
        </p:txBody>
      </p:sp>
      <p:sp>
        <p:nvSpPr>
          <p:cNvPr id="19" name="Date Placeholder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a:lstStyle/>
          <a:p>
            <a:fld id="{A7F72289-EB8A-47CA-A283-A769C9E761BF}" type="datetime1">
              <a:rPr lang="en-US" smtClean="0"/>
              <a:t>3/16/2026</a:t>
            </a:fld>
            <a:endParaRPr lang="en-US"/>
          </a:p>
        </p:txBody>
      </p:sp>
      <p:sp>
        <p:nvSpPr>
          <p:cNvPr id="20" name="Slide Number Placeholder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702309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6858000" cy="914400"/>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a:lstStyle/>
          <a:p>
            <a:fld id="{A7F72289-EB8A-47CA-A283-A769C9E761BF}" type="datetime1">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icture Placeholder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a:lstStyle>
            <a:lvl1pPr marL="0" indent="0">
              <a:buNone/>
              <a:defRPr/>
            </a:lvl1pPr>
          </a:lstStyle>
          <a:p>
            <a:r>
              <a:rPr lang="en-US" dirty="0"/>
              <a:t>  </a:t>
            </a:r>
          </a:p>
        </p:txBody>
      </p:sp>
      <p:grpSp>
        <p:nvGrpSpPr>
          <p:cNvPr id="12" name="Group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Graphic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5" name="Graphic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7602007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Graphic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3" name="Graphic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4" name="Graphic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5" name="Title 1">
            <a:extLst>
              <a:ext uri="{FF2B5EF4-FFF2-40B4-BE49-F238E27FC236}">
                <a16:creationId xmlns:a16="http://schemas.microsoft.com/office/drawing/2014/main" id="{140C24A2-BE01-3A87-C043-931216F0B64C}"/>
              </a:ext>
            </a:extLst>
          </p:cNvPr>
          <p:cNvSpPr>
            <a:spLocks noGrp="1"/>
          </p:cNvSpPr>
          <p:nvPr>
            <p:ph type="title"/>
          </p:nvPr>
        </p:nvSpPr>
        <p:spPr>
          <a:xfrm>
            <a:off x="6190488" y="731520"/>
            <a:ext cx="4663440" cy="1447800"/>
          </a:xfrm>
        </p:spPr>
        <p:txBody>
          <a:bodyPr anchor="b">
            <a:noAutofit/>
          </a:bodyPr>
          <a:lstStyle>
            <a:lvl1pPr>
              <a:defRPr sz="4000"/>
            </a:lvl1pPr>
          </a:lstStyle>
          <a:p>
            <a:r>
              <a:rPr lang="en-US" dirty="0"/>
              <a:t>Click to edit Master title style</a:t>
            </a:r>
          </a:p>
        </p:txBody>
      </p:sp>
      <p:sp>
        <p:nvSpPr>
          <p:cNvPr id="18" name="Picture Placeholder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a:lstStyle>
            <a:lvl1pPr marL="0" indent="0">
              <a:buNone/>
              <a:defRPr/>
            </a:lvl1pPr>
          </a:lstStyle>
          <a:p>
            <a:r>
              <a:rPr lang="en-US" dirty="0"/>
              <a:t>  </a:t>
            </a:r>
          </a:p>
        </p:txBody>
      </p:sp>
      <p:sp>
        <p:nvSpPr>
          <p:cNvPr id="26" name="Content Placeholder 7">
            <a:extLst>
              <a:ext uri="{FF2B5EF4-FFF2-40B4-BE49-F238E27FC236}">
                <a16:creationId xmlns:a16="http://schemas.microsoft.com/office/drawing/2014/main" id="{7BFBE908-0DFE-6B84-D3F5-F4A5B0AF3EDF}"/>
              </a:ext>
            </a:extLst>
          </p:cNvPr>
          <p:cNvSpPr>
            <a:spLocks noGrp="1"/>
          </p:cNvSpPr>
          <p:nvPr>
            <p:ph sz="quarter" idx="14"/>
          </p:nvPr>
        </p:nvSpPr>
        <p:spPr>
          <a:xfrm>
            <a:off x="6195931"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a:lstStyle>
            <a:lvl1pPr>
              <a:defRPr>
                <a:solidFill>
                  <a:schemeClr val="tx1"/>
                </a:solidFill>
                <a:effectLst/>
              </a:defRPr>
            </a:lvl1pPr>
          </a:lstStyle>
          <a:p>
            <a:fld id="{74049900-C118-46F7-B9EF-5F7C1F0005B2}" type="datetime1">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547108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0F5D989-607B-FB7F-0F99-0E7B26A16824}"/>
              </a:ext>
            </a:extLst>
          </p:cNvPr>
          <p:cNvSpPr>
            <a:spLocks noGrp="1"/>
          </p:cNvSpPr>
          <p:nvPr>
            <p:ph type="title"/>
          </p:nvPr>
        </p:nvSpPr>
        <p:spPr>
          <a:xfrm>
            <a:off x="731520" y="731520"/>
            <a:ext cx="4760540" cy="1463040"/>
          </a:xfrm>
        </p:spPr>
        <p:txBody>
          <a:bodyPr anchor="b">
            <a:noAutofit/>
          </a:bodyPr>
          <a:lstStyle>
            <a:lvl1pPr>
              <a:defRPr sz="4000"/>
            </a:lvl1pPr>
          </a:lstStyle>
          <a:p>
            <a:r>
              <a:rPr lang="en-US" dirty="0"/>
              <a:t>Click to edit Master title style</a:t>
            </a:r>
          </a:p>
        </p:txBody>
      </p:sp>
      <p:sp>
        <p:nvSpPr>
          <p:cNvPr id="13" name="Content Placeholder 7">
            <a:extLst>
              <a:ext uri="{FF2B5EF4-FFF2-40B4-BE49-F238E27FC236}">
                <a16:creationId xmlns:a16="http://schemas.microsoft.com/office/drawing/2014/main" id="{0DDD81C0-07D7-782E-23E7-41B36AC20214}"/>
              </a:ext>
            </a:extLst>
          </p:cNvPr>
          <p:cNvSpPr>
            <a:spLocks noGrp="1"/>
          </p:cNvSpPr>
          <p:nvPr>
            <p:ph sz="quarter" idx="14"/>
          </p:nvPr>
        </p:nvSpPr>
        <p:spPr>
          <a:xfrm>
            <a:off x="731520"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a:lstStyle/>
          <a:p>
            <a:r>
              <a:rPr lang="en-US" dirty="0"/>
              <a:t>Sample Footer Text</a:t>
            </a:r>
          </a:p>
        </p:txBody>
      </p:sp>
      <p:sp>
        <p:nvSpPr>
          <p:cNvPr id="14" name="Date Placeholder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a:lstStyle>
            <a:lvl1pPr>
              <a:defRPr>
                <a:solidFill>
                  <a:schemeClr val="tx1"/>
                </a:solidFill>
                <a:effectLst/>
              </a:defRPr>
            </a:lvl1pPr>
          </a:lstStyle>
          <a:p>
            <a:fld id="{74049900-C118-46F7-B9EF-5F7C1F0005B2}" type="datetime1">
              <a:rPr lang="en-US" smtClean="0"/>
              <a:t>3/16/2026</a:t>
            </a:fld>
            <a:endParaRPr lang="en-US"/>
          </a:p>
        </p:txBody>
      </p:sp>
      <p:sp>
        <p:nvSpPr>
          <p:cNvPr id="16" name="Slide Number Placeholder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a:lstStyle/>
          <a:p>
            <a:fld id="{AEAA3239-9EA4-4A65-A281-97F994456D9F}" type="slidenum">
              <a:rPr lang="en-US" smtClean="0"/>
              <a:t>‹#›</a:t>
            </a:fld>
            <a:endParaRPr lang="en-US" dirty="0"/>
          </a:p>
        </p:txBody>
      </p:sp>
      <p:sp>
        <p:nvSpPr>
          <p:cNvPr id="10" name="Picture Placeholder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Graphic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449207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900E387-922C-953A-843A-B9F023262BD7}"/>
              </a:ext>
            </a:extLst>
          </p:cNvPr>
          <p:cNvSpPr>
            <a:spLocks noGrp="1"/>
          </p:cNvSpPr>
          <p:nvPr>
            <p:ph type="title"/>
          </p:nvPr>
        </p:nvSpPr>
        <p:spPr>
          <a:xfrm>
            <a:off x="7178104" y="731520"/>
            <a:ext cx="3566160" cy="1463040"/>
          </a:xfrm>
        </p:spPr>
        <p:txBody>
          <a:bodyPr anchor="b">
            <a:noAutofit/>
          </a:bodyPr>
          <a:lstStyle>
            <a:lvl1pPr>
              <a:defRPr sz="4000"/>
            </a:lvl1pPr>
          </a:lstStyle>
          <a:p>
            <a:r>
              <a:rPr lang="en-US" dirty="0"/>
              <a:t>Click to edit Master title style</a:t>
            </a:r>
          </a:p>
        </p:txBody>
      </p:sp>
      <p:sp>
        <p:nvSpPr>
          <p:cNvPr id="14" name="Picture Placeholder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35F0A005-5A5E-B738-FB00-880E7ABF3C82}"/>
              </a:ext>
            </a:extLst>
          </p:cNvPr>
          <p:cNvSpPr>
            <a:spLocks noGrp="1"/>
          </p:cNvSpPr>
          <p:nvPr>
            <p:ph sz="quarter" idx="14"/>
          </p:nvPr>
        </p:nvSpPr>
        <p:spPr>
          <a:xfrm>
            <a:off x="7178233"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a:lstStyle/>
          <a:p>
            <a:fld id="{0B4A3A31-ACEE-4A00-9ED7-D579651BDB0B}" type="datetime1">
              <a:rPr lang="en-US" smtClean="0"/>
              <a:t>3/16/2026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Graphic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7" name="Graphic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8" name="Graphic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1653301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19" y="731520"/>
            <a:ext cx="3734215" cy="1463040"/>
          </a:xfrm>
        </p:spPr>
        <p:txBody>
          <a:bodyPr anchor="b">
            <a:no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a:lstStyle/>
          <a:p>
            <a:fld id="{0D1F969F-5863-4766-8113-71CA528EC836}" type="datetime1">
              <a:rPr lang="en-US" smtClean="0"/>
              <a:t>3/16/2026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a:lstStyle>
            <a:lvl1pPr marL="0" indent="0">
              <a:buNone/>
              <a:defRPr/>
            </a:lvl1pPr>
          </a:lstStyle>
          <a:p>
            <a:r>
              <a:rPr lang="en-US" dirty="0"/>
              <a:t>  </a:t>
            </a:r>
          </a:p>
        </p:txBody>
      </p:sp>
      <p:grpSp>
        <p:nvGrpSpPr>
          <p:cNvPr id="6" name="Group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Graphic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1" name="Graphic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2" name="Graphic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546085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Graphic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0" name="Graphic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1" name="Graphic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4" name="Title 1">
            <a:extLst>
              <a:ext uri="{FF2B5EF4-FFF2-40B4-BE49-F238E27FC236}">
                <a16:creationId xmlns:a16="http://schemas.microsoft.com/office/drawing/2014/main" id="{0BF1A3E9-2DA8-EFCD-1945-10B7E4A7FC17}"/>
              </a:ext>
            </a:extLst>
          </p:cNvPr>
          <p:cNvSpPr>
            <a:spLocks noGrp="1"/>
          </p:cNvSpPr>
          <p:nvPr>
            <p:ph type="title"/>
          </p:nvPr>
        </p:nvSpPr>
        <p:spPr>
          <a:xfrm>
            <a:off x="7913788" y="731519"/>
            <a:ext cx="2699254" cy="2377440"/>
          </a:xfrm>
        </p:spPr>
        <p:txBody>
          <a:bodyPr anchor="b">
            <a:noAutofit/>
          </a:bodyPr>
          <a:lstStyle/>
          <a:p>
            <a:r>
              <a:rPr lang="en-US" dirty="0"/>
              <a:t>Click to edit Master title style</a:t>
            </a:r>
          </a:p>
        </p:txBody>
      </p:sp>
      <p:sp>
        <p:nvSpPr>
          <p:cNvPr id="16" name="Picture Placeholder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a:lstStyle>
            <a:lvl1pPr marL="0" indent="0">
              <a:buNone/>
              <a:defRPr/>
            </a:lvl1pPr>
          </a:lstStyle>
          <a:p>
            <a:r>
              <a:rPr lang="en-US" dirty="0"/>
              <a:t>  </a:t>
            </a:r>
          </a:p>
        </p:txBody>
      </p:sp>
      <p:sp>
        <p:nvSpPr>
          <p:cNvPr id="25" name="Content Placeholder 7">
            <a:extLst>
              <a:ext uri="{FF2B5EF4-FFF2-40B4-BE49-F238E27FC236}">
                <a16:creationId xmlns:a16="http://schemas.microsoft.com/office/drawing/2014/main" id="{EBCA59A2-F29D-63E1-CCFC-C5630CD91770}"/>
              </a:ext>
            </a:extLst>
          </p:cNvPr>
          <p:cNvSpPr>
            <a:spLocks noGrp="1"/>
          </p:cNvSpPr>
          <p:nvPr>
            <p:ph sz="quarter" idx="14"/>
          </p:nvPr>
        </p:nvSpPr>
        <p:spPr>
          <a:xfrm>
            <a:off x="7914782"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935656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Graphic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6" name="Graphic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7" name="Graphic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0" name="Title 1">
            <a:extLst>
              <a:ext uri="{FF2B5EF4-FFF2-40B4-BE49-F238E27FC236}">
                <a16:creationId xmlns:a16="http://schemas.microsoft.com/office/drawing/2014/main" id="{24B91569-6261-A0AF-CAF5-5AAD160092EB}"/>
              </a:ext>
            </a:extLst>
          </p:cNvPr>
          <p:cNvSpPr>
            <a:spLocks noGrp="1"/>
          </p:cNvSpPr>
          <p:nvPr>
            <p:ph type="title"/>
          </p:nvPr>
        </p:nvSpPr>
        <p:spPr>
          <a:xfrm>
            <a:off x="730526" y="731519"/>
            <a:ext cx="2699254" cy="2377440"/>
          </a:xfrm>
        </p:spPr>
        <p:txBody>
          <a:bodyPr anchor="b">
            <a:noAutofit/>
          </a:bodyPr>
          <a:lstStyle/>
          <a:p>
            <a:r>
              <a:rPr lang="en-US" dirty="0"/>
              <a:t>Click to edit Master title style</a:t>
            </a:r>
          </a:p>
        </p:txBody>
      </p:sp>
      <p:sp>
        <p:nvSpPr>
          <p:cNvPr id="21" name="Content Placeholder 7">
            <a:extLst>
              <a:ext uri="{FF2B5EF4-FFF2-40B4-BE49-F238E27FC236}">
                <a16:creationId xmlns:a16="http://schemas.microsoft.com/office/drawing/2014/main" id="{8C24D5D5-972A-AD73-FCA8-59A4C6B48FA9}"/>
              </a:ext>
            </a:extLst>
          </p:cNvPr>
          <p:cNvSpPr>
            <a:spLocks noGrp="1"/>
          </p:cNvSpPr>
          <p:nvPr>
            <p:ph sz="quarter" idx="14"/>
          </p:nvPr>
        </p:nvSpPr>
        <p:spPr>
          <a:xfrm>
            <a:off x="731520"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a:lstStyle/>
          <a:p>
            <a:r>
              <a:rPr lang="en-US"/>
              <a:t>Sample Footer Text</a:t>
            </a:r>
          </a:p>
        </p:txBody>
      </p:sp>
      <p:sp>
        <p:nvSpPr>
          <p:cNvPr id="3" name="Date Placeholder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3/16/2026</a:t>
            </a:fld>
            <a:endParaRPr lang="en-US"/>
          </a:p>
        </p:txBody>
      </p:sp>
      <p:sp>
        <p:nvSpPr>
          <p:cNvPr id="9" name="Slide Number Placeholder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a:lstStyle/>
          <a:p>
            <a:fld id="{AEAA3239-9EA4-4A65-A281-97F994456D9F}" type="slidenum">
              <a:rPr lang="en-US" smtClean="0"/>
              <a:t>‹#›</a:t>
            </a:fld>
            <a:endParaRPr lang="en-US"/>
          </a:p>
        </p:txBody>
      </p:sp>
      <p:sp>
        <p:nvSpPr>
          <p:cNvPr id="19" name="Picture Placeholder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9534260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75079"/>
            <a:ext cx="4019522" cy="1440859"/>
          </a:xfrm>
        </p:spPr>
        <p:txBody>
          <a:bodyPr anchor="t">
            <a:noAutofit/>
          </a:bodyPr>
          <a:lstStyle>
            <a:lvl1pPr>
              <a:defRPr sz="4000"/>
            </a:lvl1pPr>
          </a:lstStyle>
          <a:p>
            <a:r>
              <a:rPr lang="en-US" dirty="0"/>
              <a:t>Click to edit Master title style</a:t>
            </a:r>
          </a:p>
        </p:txBody>
      </p:sp>
      <p:sp>
        <p:nvSpPr>
          <p:cNvPr id="15" name="Picture Placeholder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845275" y="4775079"/>
            <a:ext cx="5737126" cy="1440859"/>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2086C921-50A5-4289-8B96-30101E64A548}" type="datetime1">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903309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47643"/>
            <a:ext cx="2926080" cy="2194560"/>
          </a:xfrm>
        </p:spPr>
        <p:txBody>
          <a:bodyPr anchor="t">
            <a:noAutofit/>
          </a:bodyPr>
          <a:lstStyle>
            <a:lvl1pPr>
              <a:defRPr sz="4000"/>
            </a:lvl1pPr>
          </a:lstStyle>
          <a:p>
            <a:r>
              <a:rPr lang="en-US" dirty="0"/>
              <a:t>Click to edit Master title style</a:t>
            </a:r>
          </a:p>
        </p:txBody>
      </p:sp>
      <p:sp>
        <p:nvSpPr>
          <p:cNvPr id="10" name="Picture Placeholder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38476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1B948B66-4D7B-4FF2-9F42-B85226272225}" type="datetime1">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60295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57143"/>
            <a:ext cx="2926080" cy="1828800"/>
          </a:xfrm>
        </p:spPr>
        <p:txBody>
          <a:bodyPr anchor="t">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a:lstStyle/>
          <a:p>
            <a:fld id="{6D1D18D0-7308-42C5-B784-8892F327ABD3}" type="datetime1">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9571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135363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9311382" cy="914400"/>
          </a:xfrm>
        </p:spPr>
        <p:txBody>
          <a:bodyPr anchor="b"/>
          <a:lstStyle/>
          <a:p>
            <a:r>
              <a:rPr lang="en-US" dirty="0"/>
              <a:t>Click to edit Master title style</a:t>
            </a:r>
          </a:p>
        </p:txBody>
      </p:sp>
      <p:sp>
        <p:nvSpPr>
          <p:cNvPr id="6" name="Content Placeholder 7">
            <a:extLst>
              <a:ext uri="{FF2B5EF4-FFF2-40B4-BE49-F238E27FC236}">
                <a16:creationId xmlns:a16="http://schemas.microsoft.com/office/drawing/2014/main" id="{C764A54E-2F07-76F5-5619-B735BDCD95E0}"/>
              </a:ext>
            </a:extLst>
          </p:cNvPr>
          <p:cNvSpPr>
            <a:spLocks noGrp="1"/>
          </p:cNvSpPr>
          <p:nvPr>
            <p:ph sz="quarter" idx="18"/>
          </p:nvPr>
        </p:nvSpPr>
        <p:spPr>
          <a:xfrm>
            <a:off x="731520" y="1981200"/>
            <a:ext cx="6662928"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a:lstStyle/>
          <a:p>
            <a:fld id="{F033B22D-4ADF-4F85-9D05-706FE7DF6EFA}" type="datetime1">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a:lstStyle/>
          <a:p>
            <a:fld id="{AEAA3239-9EA4-4A65-A281-97F994456D9F}" type="slidenum">
              <a:rPr lang="en-US" smtClean="0"/>
              <a:t>‹#›</a:t>
            </a:fld>
            <a:endParaRPr lang="en-US"/>
          </a:p>
        </p:txBody>
      </p:sp>
      <p:grpSp>
        <p:nvGrpSpPr>
          <p:cNvPr id="7" name="Group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85655737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EC07A94-34C8-166D-C466-8EB021EA08A1}"/>
              </a:ext>
            </a:extLst>
          </p:cNvPr>
          <p:cNvSpPr>
            <a:spLocks noGrp="1"/>
          </p:cNvSpPr>
          <p:nvPr>
            <p:ph type="title"/>
          </p:nvPr>
        </p:nvSpPr>
        <p:spPr>
          <a:xfrm>
            <a:off x="731520" y="731520"/>
            <a:ext cx="10052958" cy="914400"/>
          </a:xfrm>
        </p:spPr>
        <p:txBody>
          <a:bodyPr anchor="b"/>
          <a:lstStyle/>
          <a:p>
            <a:r>
              <a:rPr lang="en-US" dirty="0"/>
              <a:t>Click to edit Master title style</a:t>
            </a:r>
          </a:p>
        </p:txBody>
      </p:sp>
      <p:sp>
        <p:nvSpPr>
          <p:cNvPr id="13" name="Content Placeholder 7">
            <a:extLst>
              <a:ext uri="{FF2B5EF4-FFF2-40B4-BE49-F238E27FC236}">
                <a16:creationId xmlns:a16="http://schemas.microsoft.com/office/drawing/2014/main" id="{8EFD2888-AFCC-8F6C-23EA-6CC9E518F2B9}"/>
              </a:ext>
            </a:extLst>
          </p:cNvPr>
          <p:cNvSpPr>
            <a:spLocks noGrp="1"/>
          </p:cNvSpPr>
          <p:nvPr>
            <p:ph sz="quarter" idx="18"/>
          </p:nvPr>
        </p:nvSpPr>
        <p:spPr>
          <a:xfrm>
            <a:off x="731520" y="1981200"/>
            <a:ext cx="5977130" cy="415625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a:lstStyle>
            <a:lvl1pPr marL="0" indent="0">
              <a:buNone/>
              <a:defRPr/>
            </a:lvl1pPr>
          </a:lstStyle>
          <a:p>
            <a:r>
              <a:rPr lang="en-US" dirty="0"/>
              <a:t>   </a:t>
            </a:r>
          </a:p>
        </p:txBody>
      </p:sp>
      <p:sp>
        <p:nvSpPr>
          <p:cNvPr id="14" name="Footer Placeholder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15" name="Date Placeholder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a:lstStyle/>
          <a:p>
            <a:fld id="{F033B22D-4ADF-4F85-9D05-706FE7DF6EFA}" type="datetime1">
              <a:rPr lang="en-US" smtClean="0"/>
              <a:t>3/16/2026</a:t>
            </a:fld>
            <a:endParaRPr lang="en-US"/>
          </a:p>
        </p:txBody>
      </p:sp>
      <p:sp>
        <p:nvSpPr>
          <p:cNvPr id="16" name="Slide Number Placeholder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4" name="Graphic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5" name="Graphic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754150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45E18-9DAB-9CF2-B657-5324C899C629}"/>
              </a:ext>
            </a:extLst>
          </p:cNvPr>
          <p:cNvSpPr>
            <a:spLocks noGrp="1"/>
          </p:cNvSpPr>
          <p:nvPr>
            <p:ph type="title"/>
          </p:nvPr>
        </p:nvSpPr>
        <p:spPr>
          <a:xfrm>
            <a:off x="731520" y="731520"/>
            <a:ext cx="10052958" cy="914400"/>
          </a:xfrm>
        </p:spPr>
        <p:txBody>
          <a:bodyPr anchor="b"/>
          <a:lstStyle/>
          <a:p>
            <a:r>
              <a:rPr lang="en-US" dirty="0"/>
              <a:t>Click to edit Master title style</a:t>
            </a:r>
          </a:p>
        </p:txBody>
      </p:sp>
      <p:sp>
        <p:nvSpPr>
          <p:cNvPr id="5" name="Picture Placeholder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A9D57380-62F0-CA50-72F1-70F9C63059CD}"/>
              </a:ext>
            </a:extLst>
          </p:cNvPr>
          <p:cNvSpPr>
            <a:spLocks noGrp="1"/>
          </p:cNvSpPr>
          <p:nvPr>
            <p:ph sz="quarter" idx="18"/>
          </p:nvPr>
        </p:nvSpPr>
        <p:spPr>
          <a:xfrm>
            <a:off x="5067946" y="1981200"/>
            <a:ext cx="6514464"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a:lstStyle/>
          <a:p>
            <a:fld id="{3390AD02-C8DF-4FB3-89C8-8C8B1F633346}" type="datetime1">
              <a:rPr lang="en-US" smtClean="0"/>
              <a:t>3/16/2026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Graphic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4" name="Graphic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825367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3657600" cy="2011680"/>
          </a:xfrm>
        </p:spPr>
        <p:txBody>
          <a:bodyPr anchor="t">
            <a:noAutofit/>
          </a:bodyPr>
          <a:lstStyle>
            <a:lvl1pPr>
              <a:defRPr sz="4000"/>
            </a:lvl1pPr>
          </a:lstStyle>
          <a:p>
            <a:r>
              <a:rPr lang="en-US" dirty="0"/>
              <a:t>Click to edit Master title style</a:t>
            </a:r>
          </a:p>
        </p:txBody>
      </p:sp>
      <p:sp>
        <p:nvSpPr>
          <p:cNvPr id="28" name="Picture Placeholder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846320" y="731520"/>
            <a:ext cx="5920354" cy="5171831"/>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3/16/2026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a:lstStyle/>
          <a:p>
            <a:fld id="{AEAA3239-9EA4-4A65-A281-97F994456D9F}" type="slidenum">
              <a:rPr lang="en-US" smtClean="0"/>
              <a:t>‹#›</a:t>
            </a:fld>
            <a:endParaRPr lang="en-US" dirty="0"/>
          </a:p>
        </p:txBody>
      </p:sp>
      <p:grpSp>
        <p:nvGrpSpPr>
          <p:cNvPr id="3" name="Group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Graphic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165676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0522131-79E0-C17E-CCFA-D78F4E6FB6C0}"/>
              </a:ext>
            </a:extLst>
          </p:cNvPr>
          <p:cNvSpPr>
            <a:spLocks noGrp="1"/>
          </p:cNvSpPr>
          <p:nvPr>
            <p:ph type="title"/>
          </p:nvPr>
        </p:nvSpPr>
        <p:spPr>
          <a:xfrm>
            <a:off x="731520" y="731520"/>
            <a:ext cx="3291840" cy="2011680"/>
          </a:xfrm>
        </p:spPr>
        <p:txBody>
          <a:bodyPr anchor="t">
            <a:noAutofit/>
          </a:bodyPr>
          <a:lstStyle>
            <a:lvl1pPr>
              <a:defRPr sz="4000"/>
            </a:lvl1pPr>
          </a:lstStyle>
          <a:p>
            <a:r>
              <a:rPr lang="en-US" dirty="0"/>
              <a:t>Click to edit Master title style</a:t>
            </a:r>
          </a:p>
        </p:txBody>
      </p:sp>
      <p:sp>
        <p:nvSpPr>
          <p:cNvPr id="10" name="Picture Placeholder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FB2F5EF0-4CB2-ABCF-4734-F972D94E730D}"/>
              </a:ext>
            </a:extLst>
          </p:cNvPr>
          <p:cNvSpPr>
            <a:spLocks noGrp="1"/>
          </p:cNvSpPr>
          <p:nvPr>
            <p:ph sz="quarter" idx="14"/>
          </p:nvPr>
        </p:nvSpPr>
        <p:spPr>
          <a:xfrm>
            <a:off x="4297680" y="731520"/>
            <a:ext cx="6400800" cy="53949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B708C30-1428-4C16-AD49-DE42CFEA37BF}" type="datetime1">
              <a:rPr lang="en-US" smtClean="0"/>
              <a:t>3/16/2026</a:t>
            </a:fld>
            <a:endParaRPr lang="en-US"/>
          </a:p>
        </p:txBody>
      </p:sp>
      <p:grpSp>
        <p:nvGrpSpPr>
          <p:cNvPr id="2" name="Group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Graphic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8" name="Graphic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1" name="Graphic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8697582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
        <p:nvSpPr>
          <p:cNvPr id="8" name="Title 7">
            <a:extLst>
              <a:ext uri="{FF2B5EF4-FFF2-40B4-BE49-F238E27FC236}">
                <a16:creationId xmlns:a16="http://schemas.microsoft.com/office/drawing/2014/main" id="{DBDF905D-8CE4-3494-D7B6-24047D9C1D3D}"/>
              </a:ext>
            </a:extLst>
          </p:cNvPr>
          <p:cNvSpPr>
            <a:spLocks noGrp="1"/>
          </p:cNvSpPr>
          <p:nvPr>
            <p:ph type="title"/>
          </p:nvPr>
        </p:nvSpPr>
        <p:spPr>
          <a:xfrm>
            <a:off x="640080" y="5029199"/>
            <a:ext cx="10027919" cy="914400"/>
          </a:xfrm>
        </p:spPr>
        <p:txBody>
          <a:bodyPr anchor="t">
            <a:normAutofit/>
          </a:bodyPr>
          <a:lstStyle>
            <a:lvl1pPr>
              <a:lnSpc>
                <a:spcPct val="100000"/>
              </a:lnSpc>
              <a:defRPr sz="2000" b="0" cap="none" baseline="0"/>
            </a:lvl1pPr>
          </a:lstStyle>
          <a:p>
            <a:r>
              <a:rPr lang="en-US" dirty="0"/>
              <a:t>Click to edit Master title style</a:t>
            </a:r>
          </a:p>
        </p:txBody>
      </p:sp>
      <p:sp>
        <p:nvSpPr>
          <p:cNvPr id="16" name="Content Placeholder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anchor="b">
            <a:normAutofit/>
          </a:bodyPr>
          <a:lstStyle>
            <a:lvl1pPr marL="0" indent="0">
              <a:lnSpc>
                <a:spcPct val="90000"/>
              </a:lnSpc>
              <a:buNone/>
              <a:defRPr sz="27000"/>
            </a:lvl1pPr>
          </a:lstStyle>
          <a:p>
            <a:pPr lvl="0"/>
            <a:r>
              <a:rPr lang="en-US" dirty="0"/>
              <a:t>##%</a:t>
            </a:r>
          </a:p>
        </p:txBody>
      </p:sp>
      <p:sp>
        <p:nvSpPr>
          <p:cNvPr id="6" name="Slide Number Placeholder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a:lstStyle>
            <a:lvl1pPr>
              <a:defRPr>
                <a:solidFill>
                  <a:schemeClr val="tx1"/>
                </a:solidFill>
              </a:defRPr>
            </a:lvl1pPr>
          </a:lstStyle>
          <a:p>
            <a:fld id="{AEAA3239-9EA4-4A65-A281-97F994456D9F}"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CE8854E-90F8-4761-A9B8-18B1C5A3D25C}" type="datetime1">
              <a:rPr lang="en-US" smtClean="0"/>
              <a:t>3/16/2026</a:t>
            </a:fld>
            <a:endParaRPr lang="en-US"/>
          </a:p>
        </p:txBody>
      </p:sp>
    </p:spTree>
    <p:extLst>
      <p:ext uri="{BB962C8B-B14F-4D97-AF65-F5344CB8AC3E}">
        <p14:creationId xmlns:p14="http://schemas.microsoft.com/office/powerpoint/2010/main" val="4264364931"/>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2A0A59-5884-D48B-41E8-8AE859CFAA50}"/>
              </a:ext>
            </a:extLst>
          </p:cNvPr>
          <p:cNvSpPr>
            <a:spLocks noGrp="1"/>
          </p:cNvSpPr>
          <p:nvPr>
            <p:ph type="title"/>
          </p:nvPr>
        </p:nvSpPr>
        <p:spPr>
          <a:xfrm>
            <a:off x="640080" y="5029200"/>
            <a:ext cx="10942316" cy="914399"/>
          </a:xfrm>
        </p:spPr>
        <p:txBody>
          <a:bodyPr anchor="t">
            <a:normAutofit/>
          </a:bodyPr>
          <a:lstStyle>
            <a:lvl1pPr algn="ctr">
              <a:lnSpc>
                <a:spcPct val="110000"/>
              </a:lnSpc>
              <a:defRPr sz="2000" b="0" i="0" cap="none" baseline="0">
                <a:solidFill>
                  <a:schemeClr val="bg2"/>
                </a:solidFill>
                <a:latin typeface="+mj-lt"/>
              </a:defRPr>
            </a:lvl1pPr>
          </a:lstStyle>
          <a:p>
            <a:r>
              <a:rPr lang="en-US"/>
              <a:t>Click to edit Master title style</a:t>
            </a:r>
          </a:p>
        </p:txBody>
      </p:sp>
      <p:sp>
        <p:nvSpPr>
          <p:cNvPr id="24" name="Content Placeholder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anchor="b">
            <a:normAutofit/>
          </a:bodyPr>
          <a:lstStyle>
            <a:lvl1pPr marL="0" indent="0" algn="ctr">
              <a:lnSpc>
                <a:spcPct val="90000"/>
              </a:lnSpc>
              <a:buNone/>
              <a:defRPr sz="27000" b="0" i="0">
                <a:solidFill>
                  <a:schemeClr val="bg2"/>
                </a:solidFill>
                <a:latin typeface="+mn-lt"/>
              </a:defRPr>
            </a:lvl1pPr>
          </a:lstStyle>
          <a:p>
            <a:pPr lvl="0"/>
            <a:r>
              <a:rPr lang="en-US"/>
              <a:t>##%</a:t>
            </a:r>
          </a:p>
        </p:txBody>
      </p:sp>
      <p:sp>
        <p:nvSpPr>
          <p:cNvPr id="3" name="Slide Number Placeholder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9" name="Date Placeholder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DCE8854E-90F8-4761-A9B8-18B1C5A3D25C}" type="datetime1">
              <a:rPr lang="en-US" smtClean="0"/>
              <a:pPr/>
              <a:t>3/16/2026</a:t>
            </a:fld>
            <a:endParaRPr lang="en-US"/>
          </a:p>
        </p:txBody>
      </p:sp>
    </p:spTree>
    <p:extLst>
      <p:ext uri="{BB962C8B-B14F-4D97-AF65-F5344CB8AC3E}">
        <p14:creationId xmlns:p14="http://schemas.microsoft.com/office/powerpoint/2010/main" val="1548256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66800" y="5039139"/>
            <a:ext cx="10058400" cy="914400"/>
          </a:xfrm>
        </p:spPr>
        <p:txBody>
          <a:bodyPr anchor="t">
            <a:normAutofit/>
          </a:bodyPr>
          <a:lstStyle>
            <a:lvl1pPr algn="ctr">
              <a:lnSpc>
                <a:spcPct val="110000"/>
              </a:lnSpc>
              <a:defRPr sz="2000" b="1" i="0" cap="all" baseline="0">
                <a:solidFill>
                  <a:schemeClr val="accent2"/>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anchor="b">
            <a:normAutofit/>
          </a:bodyPr>
          <a:lstStyle>
            <a:lvl1pPr marL="0" indent="0" algn="ctr">
              <a:lnSpc>
                <a:spcPct val="90000"/>
              </a:lnSpc>
              <a:buNone/>
              <a:defRPr sz="27000" b="0" i="0">
                <a:solidFill>
                  <a:schemeClr val="tx2"/>
                </a:solidFill>
                <a:latin typeface="+mn-lt"/>
              </a:defRPr>
            </a:lvl1pPr>
          </a:lstStyle>
          <a:p>
            <a:pPr lvl="0"/>
            <a:r>
              <a:rPr lang="en-US"/>
              <a:t>##%</a:t>
            </a:r>
          </a:p>
        </p:txBody>
      </p:sp>
      <p:sp>
        <p:nvSpPr>
          <p:cNvPr id="6" name="Slide Number Placeholder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1F35E9FA-D749-4B0D-A60E-CFC9630D3818}" type="datetime1">
              <a:rPr lang="en-US" smtClean="0"/>
              <a:t>3/16/2026</a:t>
            </a:fld>
            <a:endParaRPr lang="en-US"/>
          </a:p>
        </p:txBody>
      </p:sp>
    </p:spTree>
    <p:extLst>
      <p:ext uri="{BB962C8B-B14F-4D97-AF65-F5344CB8AC3E}">
        <p14:creationId xmlns:p14="http://schemas.microsoft.com/office/powerpoint/2010/main" val="38420807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67A35BA-41D5-4E87-94C2-E365E2A3656B}" type="datetime1">
              <a:rPr lang="en-US" smtClean="0"/>
              <a:pPr/>
              <a:t>3/16/2026</a:t>
            </a:fld>
            <a:endParaRPr lang="en-US"/>
          </a:p>
        </p:txBody>
      </p:sp>
      <p:cxnSp>
        <p:nvCxnSpPr>
          <p:cNvPr id="6" name="Straight Connector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Graphic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8" name="Graphic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83140551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6" name="Content Placeholder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anchor="b">
            <a:normAutofit/>
          </a:bodyPr>
          <a:lstStyle>
            <a:lvl1pPr marL="0" indent="0">
              <a:lnSpc>
                <a:spcPct val="90000"/>
              </a:lnSpc>
              <a:buNone/>
              <a:defRPr sz="5000" b="1" cap="all" baseline="0">
                <a:solidFill>
                  <a:schemeClr val="bg2"/>
                </a:solidFill>
              </a:defRPr>
            </a:lvl1pPr>
            <a:lvl2pPr marL="228600" indent="0">
              <a:lnSpc>
                <a:spcPct val="90000"/>
              </a:lnSpc>
              <a:buNone/>
              <a:defRPr sz="5000" b="1" cap="all" baseline="0">
                <a:solidFill>
                  <a:schemeClr val="bg2"/>
                </a:solidFill>
              </a:defRPr>
            </a:lvl2pPr>
            <a:lvl3pPr marL="457200" indent="0">
              <a:lnSpc>
                <a:spcPct val="90000"/>
              </a:lnSpc>
              <a:buNone/>
              <a:defRPr sz="5000" b="1" cap="all" baseline="0">
                <a:solidFill>
                  <a:schemeClr val="bg2"/>
                </a:solidFill>
              </a:defRPr>
            </a:lvl3pPr>
            <a:lvl4pPr marL="685800" indent="0">
              <a:lnSpc>
                <a:spcPct val="90000"/>
              </a:lnSpc>
              <a:buNone/>
              <a:defRPr sz="5000" b="1" cap="all" baseline="0">
                <a:solidFill>
                  <a:schemeClr val="bg2"/>
                </a:solidFill>
              </a:defRPr>
            </a:lvl4pPr>
            <a:lvl5pPr marL="914400" indent="0">
              <a:lnSpc>
                <a:spcPct val="90000"/>
              </a:lnSpc>
              <a:buNone/>
              <a:defRPr sz="5000" b="1" cap="all" baseline="0">
                <a:solidFill>
                  <a:schemeClr val="bg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Slide Number Placeholder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AEFC801C-C54B-4E4E-A0DD-68C292C7D70F}" type="datetime1">
              <a:rPr lang="en-US" smtClean="0"/>
              <a:pPr/>
              <a:t>3/16/2026</a:t>
            </a:fld>
            <a:endParaRPr lang="en-US"/>
          </a:p>
        </p:txBody>
      </p:sp>
      <p:cxnSp>
        <p:nvCxnSpPr>
          <p:cNvPr id="12" name="Straight Connector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Graphic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24" name="Graphic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25" name="Graphic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6205956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Content Placeholder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3/16/2026</a:t>
            </a:fld>
            <a:endParaRPr lang="en-US"/>
          </a:p>
        </p:txBody>
      </p:sp>
      <p:cxnSp>
        <p:nvCxnSpPr>
          <p:cNvPr id="13" name="Straight Connector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Graphic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6" name="Graphic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7" name="Graphic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794146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anchor="ctr">
            <a:normAutofit/>
          </a:bodyPr>
          <a:lstStyle>
            <a:lvl1pPr>
              <a:lnSpc>
                <a:spcPct val="120000"/>
              </a:lnSpc>
              <a:defRPr sz="2000">
                <a:solidFill>
                  <a:schemeClr val="accent2"/>
                </a:solidFill>
              </a:defRPr>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a:normAutofit/>
          </a:bodyPr>
          <a:lstStyle>
            <a:lvl1pPr marL="0" indent="0">
              <a:lnSpc>
                <a:spcPct val="90000"/>
              </a:lnSpc>
              <a:buNone/>
              <a:defRPr sz="5000" b="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3/16/2026</a:t>
            </a:fld>
            <a:endParaRPr lang="en-US"/>
          </a:p>
        </p:txBody>
      </p:sp>
      <p:cxnSp>
        <p:nvCxnSpPr>
          <p:cNvPr id="13" name="Straight Connector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1528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anchor="ctr">
            <a:normAutofit/>
          </a:bodyPr>
          <a:lstStyle>
            <a:lvl1pPr>
              <a:lnSpc>
                <a:spcPct val="120000"/>
              </a:lnSpc>
              <a:defRPr sz="2000"/>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13" name="Content Placeholder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234566FD-24FB-4338-A35C-D9AE347B4F66}" type="datetime1">
              <a:rPr lang="en-US" smtClean="0"/>
              <a:pPr/>
              <a:t>3/16/2026</a:t>
            </a:fld>
            <a:endParaRPr lang="en-US"/>
          </a:p>
        </p:txBody>
      </p:sp>
      <p:grpSp>
        <p:nvGrpSpPr>
          <p:cNvPr id="6" name="Group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9" name="Graphic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719496741"/>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anchor="ctr">
            <a:normAutofit/>
          </a:bodyPr>
          <a:lstStyle>
            <a:lvl1pPr>
              <a:lnSpc>
                <a:spcPct val="120000"/>
              </a:lnSpc>
              <a:defRPr sz="2000">
                <a:solidFill>
                  <a:schemeClr val="accent2"/>
                </a:solidFill>
              </a:defRPr>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3" name="Content Placeholder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02BF1DD-1BF4-406D-9906-B4846BCC8D55}" type="datetime1">
              <a:rPr lang="en-US" smtClean="0"/>
              <a:t>3/16/2026</a:t>
            </a:fld>
            <a:endParaRPr lang="en-US"/>
          </a:p>
        </p:txBody>
      </p:sp>
      <p:grpSp>
        <p:nvGrpSpPr>
          <p:cNvPr id="9" name="Group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591943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7B80538-E0C0-8B37-2CBC-715464FE825E}"/>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9" name="Content Placeholder 5">
            <a:extLst>
              <a:ext uri="{FF2B5EF4-FFF2-40B4-BE49-F238E27FC236}">
                <a16:creationId xmlns:a16="http://schemas.microsoft.com/office/drawing/2014/main" id="{7C0431DD-A630-224B-A787-6BF3732EE15B}"/>
              </a:ext>
            </a:extLst>
          </p:cNvPr>
          <p:cNvSpPr>
            <a:spLocks noGrp="1"/>
          </p:cNvSpPr>
          <p:nvPr>
            <p:ph sz="quarter" idx="15"/>
          </p:nvPr>
        </p:nvSpPr>
        <p:spPr>
          <a:xfrm>
            <a:off x="1524000" y="1905000"/>
            <a:ext cx="4846320" cy="42687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1">
            <a:extLst>
              <a:ext uri="{FF2B5EF4-FFF2-40B4-BE49-F238E27FC236}">
                <a16:creationId xmlns:a16="http://schemas.microsoft.com/office/drawing/2014/main" id="{B9CDF450-BB1A-E96B-F44C-F881C731657F}"/>
              </a:ext>
            </a:extLst>
          </p:cNvPr>
          <p:cNvSpPr>
            <a:spLocks noGrp="1"/>
          </p:cNvSpPr>
          <p:nvPr>
            <p:ph sz="quarter" idx="16"/>
          </p:nvPr>
        </p:nvSpPr>
        <p:spPr>
          <a:xfrm>
            <a:off x="6736080" y="1905000"/>
            <a:ext cx="4846320" cy="42687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Footer Placeholder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4" name="Date Placeholder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a:lstStyle/>
          <a:p>
            <a:fld id="{2086C921-50A5-4289-8B96-30101E64A548}" type="datetime1">
              <a:rPr lang="en-US" smtClean="0"/>
              <a:t>3/16/2026</a:t>
            </a:fld>
            <a:endParaRPr lang="en-US"/>
          </a:p>
        </p:txBody>
      </p:sp>
      <p:sp>
        <p:nvSpPr>
          <p:cNvPr id="16" name="Slide Number Placeholder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773590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B3D62A-20D4-C83A-8EC5-0F0FC4527F88}"/>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23941"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36080"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24000" y="2387600"/>
            <a:ext cx="4846320" cy="37861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736080" y="2387600"/>
            <a:ext cx="4846320" cy="37861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1" name="Straight Connector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Footer Placeholder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3" name="Date Placeholder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a:lstStyle/>
          <a:p>
            <a:fld id="{2086C921-50A5-4289-8B96-30101E64A548}" type="datetime1">
              <a:rPr lang="en-US" smtClean="0"/>
              <a:t>3/16/2026</a:t>
            </a:fld>
            <a:endParaRPr lang="en-US"/>
          </a:p>
        </p:txBody>
      </p:sp>
      <p:sp>
        <p:nvSpPr>
          <p:cNvPr id="15" name="Slide Number Placeholder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896721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Graphic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
        <p:nvSpPr>
          <p:cNvPr id="6" name="Title 1">
            <a:extLst>
              <a:ext uri="{FF2B5EF4-FFF2-40B4-BE49-F238E27FC236}">
                <a16:creationId xmlns:a16="http://schemas.microsoft.com/office/drawing/2014/main" id="{B4A8E7DD-F0B9-81F7-287D-3CB3DD2F7595}"/>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8" name="Date Placeholder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a:lstStyle/>
          <a:p>
            <a:fld id="{2086C921-50A5-4289-8B96-30101E64A548}" type="datetime1">
              <a:rPr lang="en-US" smtClean="0"/>
              <a:t>3/16/2026</a:t>
            </a:fld>
            <a:endParaRPr lang="en-US"/>
          </a:p>
        </p:txBody>
      </p:sp>
      <p:sp>
        <p:nvSpPr>
          <p:cNvPr id="10" name="Slide Number Placeholder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cxnSp>
        <p:nvCxnSpPr>
          <p:cNvPr id="11" name="Straight Connector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34132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3/16/2026</a:t>
            </a:fld>
            <a:endParaRPr lang="en-US"/>
          </a:p>
        </p:txBody>
      </p:sp>
    </p:spTree>
    <p:extLst>
      <p:ext uri="{BB962C8B-B14F-4D97-AF65-F5344CB8AC3E}">
        <p14:creationId xmlns:p14="http://schemas.microsoft.com/office/powerpoint/2010/main" val="20658806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731519"/>
            <a:ext cx="3108960" cy="2651760"/>
          </a:xfrm>
        </p:spPr>
        <p:txBody>
          <a:bodyPr anchor="t">
            <a:noAutofit/>
          </a:bodyPr>
          <a:lstStyle>
            <a:lvl1pPr>
              <a:defRPr sz="4000"/>
            </a:lvl1pPr>
          </a:lstStyle>
          <a:p>
            <a:r>
              <a:rPr lang="en-US" dirty="0"/>
              <a:t>Click to edit Master title style</a:t>
            </a:r>
          </a:p>
        </p:txBody>
      </p:sp>
      <p:sp>
        <p:nvSpPr>
          <p:cNvPr id="9" name="Text Placeholder 2">
            <a:extLst>
              <a:ext uri="{FF2B5EF4-FFF2-40B4-BE49-F238E27FC236}">
                <a16:creationId xmlns:a16="http://schemas.microsoft.com/office/drawing/2014/main" id="{5ED79D4C-84E4-DE7D-6224-9B34D3EC7A52}"/>
              </a:ext>
            </a:extLst>
          </p:cNvPr>
          <p:cNvSpPr>
            <a:spLocks noGrp="1"/>
          </p:cNvSpPr>
          <p:nvPr>
            <p:ph type="body" sz="half" idx="13"/>
          </p:nvPr>
        </p:nvSpPr>
        <p:spPr>
          <a:xfrm>
            <a:off x="731520" y="3439824"/>
            <a:ext cx="3108960" cy="2743200"/>
          </a:xfrm>
        </p:spPr>
        <p:txBody>
          <a:bodyPr>
            <a:normAutofit/>
          </a:bodyPr>
          <a:lstStyle>
            <a:lvl1pPr marL="0" indent="0">
              <a:buNone/>
              <a:defRPr sz="1400"/>
            </a:lvl1pPr>
          </a:lstStyle>
          <a:p>
            <a:r>
              <a:rPr lang="en-US" dirty="0"/>
              <a:t>Add a brief caption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114800" y="685800"/>
            <a:ext cx="6440258" cy="5497224"/>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3/16/2026</a:t>
            </a:fld>
            <a:endParaRPr lang="en-US"/>
          </a:p>
        </p:txBody>
      </p:sp>
      <p:grpSp>
        <p:nvGrpSpPr>
          <p:cNvPr id="12" name="Group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Graphic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1450708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2E33D2F-D845-A10E-F9E5-C6C051C8E9B2}"/>
              </a:ext>
            </a:extLst>
          </p:cNvPr>
          <p:cNvSpPr>
            <a:spLocks noGrp="1"/>
          </p:cNvSpPr>
          <p:nvPr>
            <p:ph type="title"/>
          </p:nvPr>
        </p:nvSpPr>
        <p:spPr>
          <a:xfrm>
            <a:off x="731520" y="731519"/>
            <a:ext cx="3108960" cy="2651760"/>
          </a:xfrm>
        </p:spPr>
        <p:txBody>
          <a:bodyPr anchor="t">
            <a:noAutofit/>
          </a:bodyPr>
          <a:lstStyle>
            <a:lvl1pPr>
              <a:defRPr sz="4000"/>
            </a:lvl1pPr>
          </a:lstStyle>
          <a:p>
            <a:r>
              <a:rPr lang="en-US" dirty="0"/>
              <a:t>Click to edit Master title style</a:t>
            </a:r>
          </a:p>
        </p:txBody>
      </p:sp>
      <p:sp>
        <p:nvSpPr>
          <p:cNvPr id="9" name="Text Placeholder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anchor="b">
            <a:normAutofit/>
          </a:bodyPr>
          <a:lstStyle>
            <a:lvl1pPr marL="0" indent="0">
              <a:buNone/>
              <a:defRPr sz="1400"/>
            </a:lvl1pPr>
          </a:lstStyle>
          <a:p>
            <a:r>
              <a:rPr lang="en-US" dirty="0"/>
              <a:t>Add a brief caption</a:t>
            </a:r>
          </a:p>
        </p:txBody>
      </p:sp>
      <p:sp>
        <p:nvSpPr>
          <p:cNvPr id="11" name="Rectangle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3/16/2026</a:t>
            </a:fld>
            <a:endParaRPr lang="en-US"/>
          </a:p>
        </p:txBody>
      </p:sp>
      <p:grpSp>
        <p:nvGrpSpPr>
          <p:cNvPr id="3" name="Group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Graphic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0" name="Graphic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061244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31520"/>
            <a:ext cx="10056254" cy="1798622"/>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2941593"/>
            <a:ext cx="10951037"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9" name="Footer Placeholder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a:lstStyle>
            <a:lvl1pPr>
              <a:defRPr>
                <a:solidFill>
                  <a:schemeClr val="tx1"/>
                </a:solidFill>
              </a:defRPr>
            </a:lvl1pPr>
          </a:lstStyle>
          <a:p>
            <a:r>
              <a:rPr lang="en-US"/>
              <a:t>Sample Footer Text</a:t>
            </a:r>
          </a:p>
        </p:txBody>
      </p:sp>
      <p:sp>
        <p:nvSpPr>
          <p:cNvPr id="7" name="Date Placeholder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a:lstStyle>
            <a:lvl1pPr>
              <a:defRPr>
                <a:solidFill>
                  <a:schemeClr val="tx1"/>
                </a:solidFill>
              </a:defRPr>
            </a:lvl1pPr>
          </a:lstStyle>
          <a:p>
            <a:fld id="{1D3D1E3E-5DD4-4BAD-A138-1254BF94C224}" type="datetime1">
              <a:rPr lang="en-US" smtClean="0"/>
              <a:pPr/>
              <a:t>3/16/2026</a:t>
            </a:fld>
            <a:endParaRPr lang="en-US"/>
          </a:p>
        </p:txBody>
      </p:sp>
      <p:grpSp>
        <p:nvGrpSpPr>
          <p:cNvPr id="11" name="Group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87716358"/>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55065"/>
            <a:ext cx="6383298" cy="1734658"/>
          </a:xfrm>
        </p:spPr>
        <p:txBody>
          <a:bodyPr anchor="b">
            <a:noAutofit/>
          </a:bodyPr>
          <a:lstStyle>
            <a:lvl1pPr>
              <a:defRPr sz="6000">
                <a:solidFill>
                  <a:schemeClr val="tx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531566"/>
            <a:ext cx="6383201" cy="1557567"/>
          </a:xfrm>
        </p:spPr>
        <p:txBody>
          <a:bodyPr>
            <a:noAutofit/>
          </a:bodyPr>
          <a:lstStyle>
            <a:lvl1pPr marL="0" indent="0">
              <a:buNone/>
              <a:defRPr sz="2000">
                <a:solidFill>
                  <a:schemeClr val="tx2"/>
                </a:solidFill>
              </a:defRPr>
            </a:lvl1pPr>
            <a:lvl2pPr marL="228600" indent="0">
              <a:buNone/>
              <a:defRPr sz="2000">
                <a:solidFill>
                  <a:schemeClr val="tx2"/>
                </a:solidFill>
              </a:defRPr>
            </a:lvl2pPr>
            <a:lvl3pPr marL="457200" indent="0">
              <a:buNone/>
              <a:defRPr sz="2000">
                <a:solidFill>
                  <a:schemeClr val="tx2"/>
                </a:solidFill>
              </a:defRPr>
            </a:lvl3pPr>
            <a:lvl4pPr marL="685800" indent="0">
              <a:buNone/>
              <a:defRPr sz="2000">
                <a:solidFill>
                  <a:schemeClr val="tx2"/>
                </a:solidFill>
              </a:defRPr>
            </a:lvl4pPr>
            <a:lvl5pPr marL="914400" indent="0">
              <a:buNone/>
              <a:defRPr sz="20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13" name="Slide Number Placeholder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3/16/2026</a:t>
            </a:fld>
            <a:endParaRPr lang="en-US"/>
          </a:p>
        </p:txBody>
      </p:sp>
      <p:grpSp>
        <p:nvGrpSpPr>
          <p:cNvPr id="26" name="Group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Graphic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28" name="Graphic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29" name="Graphic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87803296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fld id="{7DF4F7BB-A1DF-4BD2-8D5B-CA9EB40127CE}" type="datetime1">
              <a:rPr lang="en-US" smtClean="0"/>
              <a:pPr/>
              <a:t>3/16/2026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lstStyle>
            <a:lvl1pPr algn="l" rtl="0">
              <a:defRPr sz="1000" b="0" i="0">
                <a:solidFill>
                  <a:schemeClr val="bg1">
                    <a:lumMod val="65000"/>
                  </a:schemeClr>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fld id="{AEAA3239-9EA4-4A65-A281-97F994456D9F}"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6545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19AA-1DEA-FB69-320F-F7B1DE8E0F86}"/>
              </a:ext>
            </a:extLst>
          </p:cNvPr>
          <p:cNvSpPr>
            <a:spLocks noGrp="1"/>
          </p:cNvSpPr>
          <p:nvPr>
            <p:ph type="ctrTitle"/>
          </p:nvPr>
        </p:nvSpPr>
        <p:spPr>
          <a:xfrm>
            <a:off x="693824" y="1821900"/>
            <a:ext cx="10058376" cy="2303329"/>
          </a:xfrm>
        </p:spPr>
        <p:txBody>
          <a:bodyPr anchor="b">
            <a:normAutofit/>
          </a:bodyPr>
          <a:lstStyle/>
          <a:p>
            <a:r>
              <a:rPr lang="en-GB" sz="5600" dirty="0"/>
              <a:t>Attestation and SPIFFE: Securing Modern Identity and Trust Architecture </a:t>
            </a:r>
          </a:p>
        </p:txBody>
      </p:sp>
      <p:sp>
        <p:nvSpPr>
          <p:cNvPr id="3" name="Subtitle 2">
            <a:extLst>
              <a:ext uri="{FF2B5EF4-FFF2-40B4-BE49-F238E27FC236}">
                <a16:creationId xmlns:a16="http://schemas.microsoft.com/office/drawing/2014/main" id="{BD2B2B0A-C62A-3D49-EFB7-6EEA1786B0E8}"/>
              </a:ext>
            </a:extLst>
          </p:cNvPr>
          <p:cNvSpPr>
            <a:spLocks noGrp="1"/>
          </p:cNvSpPr>
          <p:nvPr>
            <p:ph type="subTitle" idx="1"/>
          </p:nvPr>
        </p:nvSpPr>
        <p:spPr>
          <a:xfrm>
            <a:off x="693824" y="4337220"/>
            <a:ext cx="8229593" cy="1235761"/>
          </a:xfrm>
        </p:spPr>
        <p:txBody>
          <a:bodyPr>
            <a:normAutofit/>
          </a:bodyPr>
          <a:lstStyle/>
          <a:p>
            <a:r>
              <a:rPr lang="en-GB"/>
              <a:t>Enhancing cloud security through trusted identity frameworks</a:t>
            </a:r>
          </a:p>
        </p:txBody>
      </p:sp>
    </p:spTree>
    <p:extLst>
      <p:ext uri="{BB962C8B-B14F-4D97-AF65-F5344CB8AC3E}">
        <p14:creationId xmlns:p14="http://schemas.microsoft.com/office/powerpoint/2010/main" val="309727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476EC-3E67-AD06-F06B-7EFF450E18FC}"/>
              </a:ext>
            </a:extLst>
          </p:cNvPr>
          <p:cNvSpPr>
            <a:spLocks noGrp="1"/>
          </p:cNvSpPr>
          <p:nvPr>
            <p:ph type="title"/>
          </p:nvPr>
        </p:nvSpPr>
        <p:spPr>
          <a:xfrm>
            <a:off x="1523999" y="903862"/>
            <a:ext cx="8229589" cy="1534537"/>
          </a:xfrm>
        </p:spPr>
        <p:txBody>
          <a:bodyPr anchor="b">
            <a:normAutofit/>
          </a:bodyPr>
          <a:lstStyle/>
          <a:p>
            <a:r>
              <a:rPr lang="en-GB" sz="5600"/>
              <a:t>Agenda Highlights</a:t>
            </a:r>
          </a:p>
        </p:txBody>
      </p:sp>
      <p:sp>
        <p:nvSpPr>
          <p:cNvPr id="3" name="Content Placeholder 2">
            <a:extLst>
              <a:ext uri="{FF2B5EF4-FFF2-40B4-BE49-F238E27FC236}">
                <a16:creationId xmlns:a16="http://schemas.microsoft.com/office/drawing/2014/main" id="{DA756093-B328-4EBF-3817-C922948310E6}"/>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1527048" y="2971800"/>
            <a:ext cx="8229603" cy="3200399"/>
          </a:xfrm>
        </p:spPr>
        <p:txBody>
          <a:bodyPr>
            <a:normAutofit/>
          </a:bodyPr>
          <a:lstStyle/>
          <a:p>
            <a:pPr>
              <a:buFont typeface="Arial" panose="020B0604020202020204" pitchFamily="34" charset="0"/>
              <a:buChar char="•"/>
            </a:pPr>
            <a:r>
              <a:rPr dirty="0"/>
              <a:t>Understanding Attestation in Security</a:t>
            </a:r>
            <a:r>
              <a:rPr lang="en-US" dirty="0"/>
              <a:t> Architecture</a:t>
            </a:r>
            <a:endParaRPr dirty="0"/>
          </a:p>
          <a:p>
            <a:pPr>
              <a:buFont typeface="Arial" panose="020B0604020202020204" pitchFamily="34" charset="0"/>
              <a:buChar char="•"/>
            </a:pPr>
            <a:r>
              <a:rPr dirty="0"/>
              <a:t>Introduction to SPIFFE (Secure Production Identity Framework For Everyone)</a:t>
            </a:r>
          </a:p>
          <a:p>
            <a:pPr>
              <a:buFont typeface="Arial" panose="020B0604020202020204" pitchFamily="34" charset="0"/>
              <a:buChar char="•"/>
            </a:pPr>
            <a:r>
              <a:rPr dirty="0"/>
              <a:t>Integrating Attestation with SPIFFE</a:t>
            </a:r>
          </a:p>
          <a:p>
            <a:pPr>
              <a:buFont typeface="Arial" panose="020B0604020202020204" pitchFamily="34" charset="0"/>
              <a:buChar char="•"/>
            </a:pPr>
            <a:r>
              <a:rPr dirty="0"/>
              <a:t>Practical Implementations and Challenges</a:t>
            </a:r>
            <a:endParaRPr lang="en-GB" dirty="0"/>
          </a:p>
        </p:txBody>
      </p:sp>
    </p:spTree>
    <p:extLst>
      <p:ext uri="{BB962C8B-B14F-4D97-AF65-F5344CB8AC3E}">
        <p14:creationId xmlns:p14="http://schemas.microsoft.com/office/powerpoint/2010/main" val="1912390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DD57-53AC-FD7E-43C4-E19B8BAC7016}"/>
              </a:ext>
            </a:extLst>
          </p:cNvPr>
          <p:cNvSpPr>
            <a:spLocks noGrp="1"/>
          </p:cNvSpPr>
          <p:nvPr>
            <p:ph type="ctrTitle"/>
          </p:nvPr>
        </p:nvSpPr>
        <p:spPr>
          <a:xfrm>
            <a:off x="1524001" y="836955"/>
            <a:ext cx="5943600" cy="4649446"/>
          </a:xfrm>
        </p:spPr>
        <p:txBody>
          <a:bodyPr anchor="b">
            <a:normAutofit/>
          </a:bodyPr>
          <a:lstStyle/>
          <a:p>
            <a:r>
              <a:rPr lang="en-GB" sz="5000" dirty="0"/>
              <a:t>Understanding Attestation in Security architecture</a:t>
            </a:r>
          </a:p>
        </p:txBody>
      </p:sp>
    </p:spTree>
    <p:extLst>
      <p:ext uri="{BB962C8B-B14F-4D97-AF65-F5344CB8AC3E}">
        <p14:creationId xmlns:p14="http://schemas.microsoft.com/office/powerpoint/2010/main" val="3783968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61EE-2379-DF8B-47DB-D95F5A0961D1}"/>
              </a:ext>
            </a:extLst>
          </p:cNvPr>
          <p:cNvSpPr>
            <a:spLocks noGrp="1"/>
          </p:cNvSpPr>
          <p:nvPr>
            <p:ph type="title"/>
          </p:nvPr>
        </p:nvSpPr>
        <p:spPr>
          <a:xfrm>
            <a:off x="6190488" y="731520"/>
            <a:ext cx="4663440" cy="1447800"/>
          </a:xfrm>
        </p:spPr>
        <p:txBody>
          <a:bodyPr anchor="b">
            <a:normAutofit fontScale="90000"/>
          </a:bodyPr>
          <a:lstStyle/>
          <a:p>
            <a:r>
              <a:rPr lang="en-GB" sz="3700"/>
              <a:t>Definition and Purpose of Attestation</a:t>
            </a:r>
          </a:p>
        </p:txBody>
      </p:sp>
      <p:pic>
        <p:nvPicPr>
          <p:cNvPr id="5" name="Content Placeholder 4" descr="Digital security shield with cloud computing and trust verification symbols">
            <a:extLst>
              <a:ext uri="{FF2B5EF4-FFF2-40B4-BE49-F238E27FC236}">
                <a16:creationId xmlns:a16="http://schemas.microsoft.com/office/drawing/2014/main" id="{C463F3CF-2811-4471-A364-8AB3080D33F2}"/>
              </a:ext>
            </a:extLst>
          </p:cNvPr>
          <p:cNvPicPr>
            <a:picLocks noGrp="1" noChangeAspect="1"/>
          </p:cNvPicPr>
          <p:nvPr>
            <p:ph type="pic" sz="quarter" idx="18"/>
          </p:nvPr>
        </p:nvPicPr>
        <p:blipFill>
          <a:blip r:embed="rId3"/>
          <a:srcRect l="24708" r="25424"/>
          <a:stretch>
            <a:fillRect/>
          </a:stretch>
        </p:blipFill>
        <p:spPr>
          <a:xfrm>
            <a:off x="301752" y="301752"/>
            <a:ext cx="4672584" cy="6254496"/>
          </a:xfrm>
        </p:spPr>
      </p:pic>
      <p:sp>
        <p:nvSpPr>
          <p:cNvPr id="4" name="Content Placeholder 3">
            <a:extLst>
              <a:ext uri="{FF2B5EF4-FFF2-40B4-BE49-F238E27FC236}">
                <a16:creationId xmlns:a16="http://schemas.microsoft.com/office/drawing/2014/main" id="{0B464E31-8EC8-F396-06C1-7603E501EA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1" y="2373638"/>
            <a:ext cx="4460528" cy="3798562"/>
          </a:xfrm>
        </p:spPr>
        <p:txBody>
          <a:bodyPr>
            <a:normAutofit/>
          </a:bodyPr>
          <a:lstStyle/>
          <a:p>
            <a:pPr marL="0" indent="0">
              <a:spcBef>
                <a:spcPts val="2500"/>
              </a:spcBef>
              <a:buFont typeface="Arial" panose="020B0604020202020204" pitchFamily="34" charset="0"/>
              <a:buNone/>
            </a:pPr>
            <a:r>
              <a:rPr lang="en-GB" b="1"/>
              <a:t>Security Integrity Verification</a:t>
            </a:r>
          </a:p>
          <a:p>
            <a:pPr marL="0" lvl="1" indent="0">
              <a:buFont typeface="Arial" panose="020B0604020202020204" pitchFamily="34" charset="0"/>
              <a:buNone/>
            </a:pPr>
            <a:r>
              <a:t>Attestation verifies system integrity by ensuring hardware and software configurations meet security standards.</a:t>
            </a:r>
            <a:endParaRPr lang="en-GB"/>
          </a:p>
          <a:p>
            <a:pPr marL="0" indent="0">
              <a:spcBef>
                <a:spcPts val="2500"/>
              </a:spcBef>
              <a:buFont typeface="Arial" panose="020B0604020202020204" pitchFamily="34" charset="0"/>
              <a:buNone/>
            </a:pPr>
            <a:r>
              <a:rPr lang="en-GB" b="1"/>
              <a:t>Authenticity Confirmation</a:t>
            </a:r>
          </a:p>
          <a:p>
            <a:pPr marL="0" lvl="1" indent="0">
              <a:buFont typeface="Arial" panose="020B0604020202020204" pitchFamily="34" charset="0"/>
              <a:buNone/>
            </a:pPr>
            <a:r>
              <a:t>It proves the authenticity of a system or component before trust is established in cloud environments.</a:t>
            </a:r>
            <a:endParaRPr lang="en-GB"/>
          </a:p>
          <a:p>
            <a:pPr marL="0" indent="0">
              <a:spcBef>
                <a:spcPts val="2500"/>
              </a:spcBef>
              <a:buFont typeface="Arial" panose="020B0604020202020204" pitchFamily="34" charset="0"/>
              <a:buNone/>
            </a:pPr>
            <a:r>
              <a:rPr lang="en-GB" b="1"/>
              <a:t>Foundation for Trust</a:t>
            </a:r>
          </a:p>
          <a:p>
            <a:pPr marL="0" lvl="1" indent="0">
              <a:buFont typeface="Arial" panose="020B0604020202020204" pitchFamily="34" charset="0"/>
              <a:buNone/>
            </a:pPr>
            <a:r>
              <a:t>Attestation acts as a foundational mechanism to establish trust in distributed cloud infrastructures.</a:t>
            </a:r>
            <a:endParaRPr lang="en-GB"/>
          </a:p>
        </p:txBody>
      </p:sp>
    </p:spTree>
    <p:extLst>
      <p:ext uri="{BB962C8B-B14F-4D97-AF65-F5344CB8AC3E}">
        <p14:creationId xmlns:p14="http://schemas.microsoft.com/office/powerpoint/2010/main" val="1617795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DEB05-8F59-714F-7B20-F1E2644AB978}"/>
              </a:ext>
            </a:extLst>
          </p:cNvPr>
          <p:cNvSpPr>
            <a:spLocks noGrp="1"/>
          </p:cNvSpPr>
          <p:nvPr>
            <p:ph type="title"/>
          </p:nvPr>
        </p:nvSpPr>
        <p:spPr>
          <a:xfrm>
            <a:off x="6190488" y="731520"/>
            <a:ext cx="4663440" cy="1447800"/>
          </a:xfrm>
        </p:spPr>
        <p:txBody>
          <a:bodyPr anchor="b">
            <a:normAutofit/>
          </a:bodyPr>
          <a:lstStyle/>
          <a:p>
            <a:r>
              <a:rPr lang="en-GB" sz="2800"/>
              <a:t>Types of Attestation: Hardware, Software, and Remote</a:t>
            </a:r>
          </a:p>
        </p:txBody>
      </p:sp>
      <p:pic>
        <p:nvPicPr>
          <p:cNvPr id="5" name="Content Placeholder 4" descr="Cryptographic security elements illustrating hardware, software and remote attestation concepts">
            <a:extLst>
              <a:ext uri="{FF2B5EF4-FFF2-40B4-BE49-F238E27FC236}">
                <a16:creationId xmlns:a16="http://schemas.microsoft.com/office/drawing/2014/main" id="{7460898A-D1B0-4D64-9BD1-A3B653C5EDFF}"/>
              </a:ext>
            </a:extLst>
          </p:cNvPr>
          <p:cNvPicPr>
            <a:picLocks noGrp="1" noChangeAspect="1"/>
          </p:cNvPicPr>
          <p:nvPr>
            <p:ph type="pic" sz="quarter" idx="18"/>
          </p:nvPr>
        </p:nvPicPr>
        <p:blipFill>
          <a:blip r:embed="rId3"/>
          <a:srcRect l="27200" r="22932"/>
          <a:stretch>
            <a:fillRect/>
          </a:stretch>
        </p:blipFill>
        <p:spPr>
          <a:xfrm>
            <a:off x="301752" y="301752"/>
            <a:ext cx="4672584" cy="6254496"/>
          </a:xfrm>
        </p:spPr>
      </p:pic>
      <p:sp>
        <p:nvSpPr>
          <p:cNvPr id="4" name="Content Placeholder 3">
            <a:extLst>
              <a:ext uri="{FF2B5EF4-FFF2-40B4-BE49-F238E27FC236}">
                <a16:creationId xmlns:a16="http://schemas.microsoft.com/office/drawing/2014/main" id="{DA89855D-7CA1-E0A7-2E87-575C0FCF16D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1" y="2373638"/>
            <a:ext cx="4460528" cy="3798562"/>
          </a:xfrm>
        </p:spPr>
        <p:txBody>
          <a:bodyPr>
            <a:normAutofit/>
          </a:bodyPr>
          <a:lstStyle/>
          <a:p>
            <a:pPr marL="0" indent="0">
              <a:spcBef>
                <a:spcPts val="2500"/>
              </a:spcBef>
              <a:buFont typeface="Arial" panose="020B0604020202020204" pitchFamily="34" charset="0"/>
              <a:buNone/>
            </a:pPr>
            <a:r>
              <a:rPr lang="en-GB" b="1"/>
              <a:t>Hardware Attestation</a:t>
            </a:r>
          </a:p>
          <a:p>
            <a:pPr marL="0" lvl="1" indent="0">
              <a:buFont typeface="Arial" panose="020B0604020202020204" pitchFamily="34" charset="0"/>
              <a:buNone/>
            </a:pPr>
            <a:r>
              <a:t>Hardware attestation uses TPMs or secure enclaves to cryptographically prove hardware integrity and state.</a:t>
            </a:r>
            <a:endParaRPr lang="en-GB"/>
          </a:p>
          <a:p>
            <a:pPr marL="0" indent="0">
              <a:spcBef>
                <a:spcPts val="2500"/>
              </a:spcBef>
              <a:buFont typeface="Arial" panose="020B0604020202020204" pitchFamily="34" charset="0"/>
              <a:buNone/>
            </a:pPr>
            <a:r>
              <a:rPr lang="en-GB" b="1"/>
              <a:t>Software Attestation</a:t>
            </a:r>
          </a:p>
          <a:p>
            <a:pPr marL="0" lvl="1" indent="0">
              <a:buFont typeface="Arial" panose="020B0604020202020204" pitchFamily="34" charset="0"/>
              <a:buNone/>
            </a:pPr>
            <a:r>
              <a:t>Software attestation verifies software integrity using cryptographic hashes or digital signatures.</a:t>
            </a:r>
            <a:endParaRPr lang="en-GB"/>
          </a:p>
          <a:p>
            <a:pPr marL="0" indent="0">
              <a:spcBef>
                <a:spcPts val="2500"/>
              </a:spcBef>
              <a:buFont typeface="Arial" panose="020B0604020202020204" pitchFamily="34" charset="0"/>
              <a:buNone/>
            </a:pPr>
            <a:r>
              <a:rPr lang="en-GB" b="1"/>
              <a:t>Remote Attestation</a:t>
            </a:r>
          </a:p>
          <a:p>
            <a:pPr marL="0" lvl="1" indent="0">
              <a:buFont typeface="Arial" panose="020B0604020202020204" pitchFamily="34" charset="0"/>
              <a:buNone/>
            </a:pPr>
            <a:r>
              <a:t>Remote attestation allows systems to prove their integrity status to remote verifiers, aiding cloud security.</a:t>
            </a:r>
            <a:endParaRPr lang="en-GB"/>
          </a:p>
        </p:txBody>
      </p:sp>
    </p:spTree>
    <p:extLst>
      <p:ext uri="{BB962C8B-B14F-4D97-AF65-F5344CB8AC3E}">
        <p14:creationId xmlns:p14="http://schemas.microsoft.com/office/powerpoint/2010/main" val="2346377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998B-4E02-E194-66B2-831B8529F6C9}"/>
              </a:ext>
            </a:extLst>
          </p:cNvPr>
          <p:cNvSpPr>
            <a:spLocks noGrp="1"/>
          </p:cNvSpPr>
          <p:nvPr>
            <p:ph type="title"/>
          </p:nvPr>
        </p:nvSpPr>
        <p:spPr>
          <a:xfrm>
            <a:off x="731520" y="731520"/>
            <a:ext cx="6858000" cy="914400"/>
          </a:xfrm>
        </p:spPr>
        <p:txBody>
          <a:bodyPr anchor="b">
            <a:normAutofit/>
          </a:bodyPr>
          <a:lstStyle/>
          <a:p>
            <a:r>
              <a:rPr lang="en-GB" sz="3100"/>
              <a:t>Role of Attestation in Establishing Trust</a:t>
            </a:r>
          </a:p>
        </p:txBody>
      </p:sp>
      <p:sp>
        <p:nvSpPr>
          <p:cNvPr id="4" name="Content Placeholder 3">
            <a:extLst>
              <a:ext uri="{FF2B5EF4-FFF2-40B4-BE49-F238E27FC236}">
                <a16:creationId xmlns:a16="http://schemas.microsoft.com/office/drawing/2014/main" id="{3F667B70-A3A7-8DDD-97A8-41887927C7F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GB" b="1" dirty="0"/>
              <a:t>Gatekeeper for Trusted Entities</a:t>
            </a:r>
          </a:p>
          <a:p>
            <a:pPr marL="0" lvl="1" indent="0">
              <a:buFont typeface="Arial" panose="020B0604020202020204" pitchFamily="34" charset="0"/>
              <a:buNone/>
            </a:pPr>
            <a:r>
              <a:rPr dirty="0"/>
              <a:t>Attestation ensures only verified workloads and devices interact within the cloud ecosystem.</a:t>
            </a:r>
            <a:endParaRPr lang="en-GB" dirty="0"/>
          </a:p>
          <a:p>
            <a:pPr marL="0" indent="0">
              <a:spcBef>
                <a:spcPts val="2500"/>
              </a:spcBef>
              <a:buFont typeface="Arial" panose="020B0604020202020204" pitchFamily="34" charset="0"/>
              <a:buNone/>
            </a:pPr>
            <a:r>
              <a:rPr lang="en-GB" b="1" dirty="0"/>
              <a:t>Cryptographic Integrity Verification</a:t>
            </a:r>
          </a:p>
          <a:p>
            <a:pPr marL="0" lvl="1" indent="0">
              <a:buFont typeface="Arial" panose="020B0604020202020204" pitchFamily="34" charset="0"/>
              <a:buNone/>
            </a:pPr>
            <a:r>
              <a:rPr dirty="0"/>
              <a:t>Attestation cryptographically verifies entity integrity, reducing risks from misconfigured or compromised components.</a:t>
            </a:r>
            <a:endParaRPr lang="en-GB" dirty="0"/>
          </a:p>
          <a:p>
            <a:pPr marL="0" indent="0">
              <a:spcBef>
                <a:spcPts val="2500"/>
              </a:spcBef>
              <a:buFont typeface="Arial" panose="020B0604020202020204" pitchFamily="34" charset="0"/>
              <a:buNone/>
            </a:pPr>
            <a:r>
              <a:rPr lang="en-GB" b="1" dirty="0"/>
              <a:t>Continuous Trust Process</a:t>
            </a:r>
          </a:p>
          <a:p>
            <a:pPr marL="0" lvl="1" indent="0">
              <a:buFont typeface="Arial" panose="020B0604020202020204" pitchFamily="34" charset="0"/>
              <a:buNone/>
            </a:pPr>
            <a:r>
              <a:rPr dirty="0"/>
              <a:t>It provides ongoing trust validation essential for zero-trust security architectures.</a:t>
            </a:r>
            <a:endParaRPr lang="en-GB" dirty="0"/>
          </a:p>
          <a:p>
            <a:pPr marL="0" indent="0">
              <a:spcBef>
                <a:spcPts val="2500"/>
              </a:spcBef>
              <a:buFont typeface="Arial" panose="020B0604020202020204" pitchFamily="34" charset="0"/>
              <a:buNone/>
            </a:pPr>
            <a:r>
              <a:rPr lang="en-GB" b="1" dirty="0"/>
              <a:t>Dynamic Workload Security</a:t>
            </a:r>
          </a:p>
          <a:p>
            <a:pPr marL="0" lvl="1" indent="0">
              <a:buFont typeface="Arial" panose="020B0604020202020204" pitchFamily="34" charset="0"/>
              <a:buNone/>
            </a:pPr>
            <a:r>
              <a:rPr dirty="0"/>
              <a:t>Attestation supports rapid, secure identity validation for ephemeral and dynamic cloud workloads.</a:t>
            </a:r>
            <a:endParaRPr lang="en-GB" dirty="0"/>
          </a:p>
        </p:txBody>
      </p:sp>
      <p:pic>
        <p:nvPicPr>
          <p:cNvPr id="5" name="Content Placeholder 4" descr="Digital lock and shield representing secure cloud attestation and trust verification">
            <a:extLst>
              <a:ext uri="{FF2B5EF4-FFF2-40B4-BE49-F238E27FC236}">
                <a16:creationId xmlns:a16="http://schemas.microsoft.com/office/drawing/2014/main" id="{C5255719-2001-44B5-A8F1-96C4DEC54722}"/>
              </a:ext>
            </a:extLst>
          </p:cNvPr>
          <p:cNvPicPr>
            <a:picLocks noGrp="1" noChangeAspect="1"/>
          </p:cNvPicPr>
          <p:nvPr>
            <p:ph type="pic" sz="quarter" idx="18"/>
          </p:nvPr>
        </p:nvPicPr>
        <p:blipFill>
          <a:blip r:embed="rId3"/>
          <a:srcRect l="45443" r="30147"/>
          <a:stretch>
            <a:fillRect/>
          </a:stretch>
        </p:blipFill>
        <p:spPr>
          <a:xfrm>
            <a:off x="9603033" y="301752"/>
            <a:ext cx="2287214" cy="6254496"/>
          </a:xfrm>
        </p:spPr>
      </p:pic>
    </p:spTree>
    <p:extLst>
      <p:ext uri="{BB962C8B-B14F-4D97-AF65-F5344CB8AC3E}">
        <p14:creationId xmlns:p14="http://schemas.microsoft.com/office/powerpoint/2010/main" val="3473848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6AB69-5F9E-37AF-CD73-B95B4F28921D}"/>
              </a:ext>
            </a:extLst>
          </p:cNvPr>
          <p:cNvSpPr>
            <a:spLocks noGrp="1"/>
          </p:cNvSpPr>
          <p:nvPr>
            <p:ph type="ctrTitle"/>
          </p:nvPr>
        </p:nvSpPr>
        <p:spPr>
          <a:xfrm>
            <a:off x="1524001" y="836955"/>
            <a:ext cx="5943600" cy="4649446"/>
          </a:xfrm>
        </p:spPr>
        <p:txBody>
          <a:bodyPr anchor="b">
            <a:normAutofit/>
          </a:bodyPr>
          <a:lstStyle/>
          <a:p>
            <a:r>
              <a:rPr lang="en-GB" sz="5000"/>
              <a:t>Introduction to SPIFFE (Secure Production Identity Framework For Everyone)</a:t>
            </a:r>
          </a:p>
        </p:txBody>
      </p:sp>
    </p:spTree>
    <p:extLst>
      <p:ext uri="{BB962C8B-B14F-4D97-AF65-F5344CB8AC3E}">
        <p14:creationId xmlns:p14="http://schemas.microsoft.com/office/powerpoint/2010/main" val="4194199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DB518-6F0F-6072-2538-6E065BB78A79}"/>
              </a:ext>
            </a:extLst>
          </p:cNvPr>
          <p:cNvSpPr>
            <a:spLocks noGrp="1"/>
          </p:cNvSpPr>
          <p:nvPr>
            <p:ph type="title"/>
          </p:nvPr>
        </p:nvSpPr>
        <p:spPr>
          <a:xfrm>
            <a:off x="731520" y="731520"/>
            <a:ext cx="3657600" cy="2011680"/>
          </a:xfrm>
        </p:spPr>
        <p:txBody>
          <a:bodyPr anchor="t">
            <a:normAutofit/>
          </a:bodyPr>
          <a:lstStyle/>
          <a:p>
            <a:r>
              <a:rPr lang="en-GB" sz="3700"/>
              <a:t>Overview and Key Principles of SPIFFE</a:t>
            </a:r>
          </a:p>
        </p:txBody>
      </p:sp>
      <p:pic>
        <p:nvPicPr>
          <p:cNvPr id="5" name="Content Placeholder 4" descr="Secure digital identities in cloud-native environments with automated rotation and control plane">
            <a:extLst>
              <a:ext uri="{FF2B5EF4-FFF2-40B4-BE49-F238E27FC236}">
                <a16:creationId xmlns:a16="http://schemas.microsoft.com/office/drawing/2014/main" id="{129ACEA9-8988-4896-B51F-578998182009}"/>
              </a:ext>
            </a:extLst>
          </p:cNvPr>
          <p:cNvPicPr>
            <a:picLocks noGrp="1" noChangeAspect="1"/>
          </p:cNvPicPr>
          <p:nvPr>
            <p:ph type="pic" sz="quarter" idx="19"/>
          </p:nvPr>
        </p:nvPicPr>
        <p:blipFill>
          <a:blip r:embed="rId3"/>
          <a:stretch/>
        </p:blipFill>
        <p:spPr>
          <a:xfrm>
            <a:off x="1038623" y="3723344"/>
            <a:ext cx="2542791" cy="1697312"/>
          </a:xfrm>
        </p:spPr>
      </p:pic>
      <p:sp>
        <p:nvSpPr>
          <p:cNvPr id="4" name="Content Placeholder 3">
            <a:extLst>
              <a:ext uri="{FF2B5EF4-FFF2-40B4-BE49-F238E27FC236}">
                <a16:creationId xmlns:a16="http://schemas.microsoft.com/office/drawing/2014/main" id="{D49DA742-206C-8A2F-007D-411B6AD574C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6320" y="731520"/>
            <a:ext cx="5920354" cy="5171831"/>
          </a:xfrm>
        </p:spPr>
        <p:txBody>
          <a:bodyPr>
            <a:normAutofit/>
          </a:bodyPr>
          <a:lstStyle/>
          <a:p>
            <a:pPr marL="0" indent="0">
              <a:spcBef>
                <a:spcPts val="2500"/>
              </a:spcBef>
              <a:buFont typeface="Arial" panose="020B0604020202020204" pitchFamily="34" charset="0"/>
              <a:buNone/>
            </a:pPr>
            <a:r>
              <a:rPr lang="en-GB" b="1" dirty="0"/>
              <a:t>Secure Workload Identity Issuance</a:t>
            </a:r>
          </a:p>
          <a:p>
            <a:pPr marL="0" lvl="1" indent="0">
              <a:buFont typeface="Arial" panose="020B0604020202020204" pitchFamily="34" charset="0"/>
              <a:buNone/>
            </a:pPr>
            <a:r>
              <a:rPr dirty="0"/>
              <a:t>SPIFFE issues secure identities to workloads through a trusted control plane for enhanced security.</a:t>
            </a:r>
            <a:endParaRPr lang="en-GB" dirty="0"/>
          </a:p>
          <a:p>
            <a:pPr marL="0" indent="0">
              <a:spcBef>
                <a:spcPts val="2500"/>
              </a:spcBef>
              <a:buFont typeface="Arial" panose="020B0604020202020204" pitchFamily="34" charset="0"/>
              <a:buNone/>
            </a:pPr>
            <a:r>
              <a:rPr lang="en-GB" b="1" dirty="0"/>
              <a:t>Platform Agnosticism</a:t>
            </a:r>
          </a:p>
          <a:p>
            <a:pPr marL="0" lvl="1" indent="0">
              <a:buFont typeface="Arial" panose="020B0604020202020204" pitchFamily="34" charset="0"/>
              <a:buNone/>
            </a:pPr>
            <a:r>
              <a:rPr dirty="0"/>
              <a:t>SPIFFE operates independently of platform or environment, supporting heterogeneous cloud</a:t>
            </a:r>
            <a:r>
              <a:rPr lang="en-US" dirty="0"/>
              <a:t>/on-prem </a:t>
            </a:r>
            <a:r>
              <a:rPr dirty="0"/>
              <a:t>native setups.</a:t>
            </a:r>
            <a:endParaRPr lang="en-GB" dirty="0"/>
          </a:p>
          <a:p>
            <a:pPr marL="0" indent="0">
              <a:spcBef>
                <a:spcPts val="2500"/>
              </a:spcBef>
              <a:buFont typeface="Arial" panose="020B0604020202020204" pitchFamily="34" charset="0"/>
              <a:buNone/>
            </a:pPr>
            <a:r>
              <a:rPr lang="en-GB" b="1" dirty="0"/>
              <a:t>Automated Identity Rotation</a:t>
            </a:r>
          </a:p>
          <a:p>
            <a:pPr marL="0" lvl="1" indent="0">
              <a:buFont typeface="Arial" panose="020B0604020202020204" pitchFamily="34" charset="0"/>
              <a:buNone/>
            </a:pPr>
            <a:r>
              <a:rPr dirty="0"/>
              <a:t>SPIFFE automates identity rotation to maintain security without manual intervention.</a:t>
            </a:r>
            <a:endParaRPr lang="en-GB" dirty="0"/>
          </a:p>
          <a:p>
            <a:pPr marL="0" indent="0">
              <a:spcBef>
                <a:spcPts val="2500"/>
              </a:spcBef>
              <a:buFont typeface="Arial" panose="020B0604020202020204" pitchFamily="34" charset="0"/>
              <a:buNone/>
            </a:pPr>
            <a:r>
              <a:rPr lang="en-GB" b="1" dirty="0"/>
              <a:t>Unified Authentication and Authorisation</a:t>
            </a:r>
          </a:p>
          <a:p>
            <a:pPr marL="0" lvl="1" indent="0">
              <a:buFont typeface="Arial" panose="020B0604020202020204" pitchFamily="34" charset="0"/>
              <a:buNone/>
            </a:pPr>
            <a:r>
              <a:rPr dirty="0"/>
              <a:t>SPIFFE unifies identity management enabling seamless authentication and authori</a:t>
            </a:r>
            <a:r>
              <a:rPr lang="en-US" dirty="0"/>
              <a:t>s</a:t>
            </a:r>
            <a:r>
              <a:rPr dirty="0"/>
              <a:t>ation across </a:t>
            </a:r>
            <a:r>
              <a:rPr lang="en-US" dirty="0"/>
              <a:t>all </a:t>
            </a:r>
            <a:r>
              <a:rPr dirty="0"/>
              <a:t>environments.</a:t>
            </a:r>
            <a:endParaRPr lang="en-GB" dirty="0"/>
          </a:p>
        </p:txBody>
      </p:sp>
    </p:spTree>
    <p:extLst>
      <p:ext uri="{BB962C8B-B14F-4D97-AF65-F5344CB8AC3E}">
        <p14:creationId xmlns:p14="http://schemas.microsoft.com/office/powerpoint/2010/main" val="1103118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568CD-1AB0-6B8E-6415-7D0EBA964E87}"/>
              </a:ext>
            </a:extLst>
          </p:cNvPr>
          <p:cNvSpPr>
            <a:spLocks noGrp="1"/>
          </p:cNvSpPr>
          <p:nvPr>
            <p:ph type="title"/>
          </p:nvPr>
        </p:nvSpPr>
        <p:spPr>
          <a:xfrm>
            <a:off x="3810000" y="731520"/>
            <a:ext cx="6858000" cy="914400"/>
          </a:xfrm>
        </p:spPr>
        <p:txBody>
          <a:bodyPr anchor="b">
            <a:normAutofit/>
          </a:bodyPr>
          <a:lstStyle/>
          <a:p>
            <a:r>
              <a:rPr lang="en-GB" sz="3100"/>
              <a:t>SPIFFE Identity Model: SPIFFE ID and Workloads</a:t>
            </a:r>
          </a:p>
        </p:txBody>
      </p:sp>
      <p:pic>
        <p:nvPicPr>
          <p:cNvPr id="5" name="Content Placeholder 4" descr="Digital network nodes with secure identity connections illustrating workload authentication and identity management">
            <a:extLst>
              <a:ext uri="{FF2B5EF4-FFF2-40B4-BE49-F238E27FC236}">
                <a16:creationId xmlns:a16="http://schemas.microsoft.com/office/drawing/2014/main" id="{06D8F6ED-4A70-462D-97FF-279FF5C39184}"/>
              </a:ext>
            </a:extLst>
          </p:cNvPr>
          <p:cNvPicPr>
            <a:picLocks noGrp="1" noChangeAspect="1"/>
          </p:cNvPicPr>
          <p:nvPr>
            <p:ph type="pic" sz="quarter" idx="18"/>
          </p:nvPr>
        </p:nvPicPr>
        <p:blipFill>
          <a:blip r:embed="rId3"/>
          <a:srcRect l="30242" r="45348"/>
          <a:stretch>
            <a:fillRect/>
          </a:stretch>
        </p:blipFill>
        <p:spPr>
          <a:xfrm>
            <a:off x="301753" y="301752"/>
            <a:ext cx="2287214" cy="6254496"/>
          </a:xfrm>
        </p:spPr>
      </p:pic>
      <p:sp>
        <p:nvSpPr>
          <p:cNvPr id="4" name="Content Placeholder 3">
            <a:extLst>
              <a:ext uri="{FF2B5EF4-FFF2-40B4-BE49-F238E27FC236}">
                <a16:creationId xmlns:a16="http://schemas.microsoft.com/office/drawing/2014/main" id="{123CFFB0-4870-F2D4-21E6-E5A5C90284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00" y="1984248"/>
            <a:ext cx="6858000" cy="4306770"/>
          </a:xfrm>
        </p:spPr>
        <p:txBody>
          <a:bodyPr>
            <a:normAutofit/>
          </a:bodyPr>
          <a:lstStyle/>
          <a:p>
            <a:pPr marL="0" indent="0">
              <a:spcBef>
                <a:spcPts val="2500"/>
              </a:spcBef>
              <a:buFont typeface="Arial" panose="020B0604020202020204" pitchFamily="34" charset="0"/>
              <a:buNone/>
            </a:pPr>
            <a:r>
              <a:rPr lang="en-GB" b="1"/>
              <a:t>SPIFFE ID Structure</a:t>
            </a:r>
          </a:p>
          <a:p>
            <a:pPr marL="0" lvl="1" indent="0">
              <a:buFont typeface="Arial" panose="020B0604020202020204" pitchFamily="34" charset="0"/>
              <a:buNone/>
            </a:pPr>
            <a:r>
              <a:t>SPIFFE ID is a structured URI serving as a cryptographically verifiable identity for individual workloads.</a:t>
            </a:r>
            <a:endParaRPr lang="en-GB"/>
          </a:p>
          <a:p>
            <a:pPr marL="0" indent="0">
              <a:spcBef>
                <a:spcPts val="2500"/>
              </a:spcBef>
              <a:buFont typeface="Arial" panose="020B0604020202020204" pitchFamily="34" charset="0"/>
              <a:buNone/>
            </a:pPr>
            <a:r>
              <a:rPr lang="en-GB" b="1"/>
              <a:t>Workload Authentication</a:t>
            </a:r>
          </a:p>
          <a:p>
            <a:pPr marL="0" lvl="1" indent="0">
              <a:buFont typeface="Arial" panose="020B0604020202020204" pitchFamily="34" charset="0"/>
              <a:buNone/>
            </a:pPr>
            <a:r>
              <a:t>SPIFFE IDs enable workloads to authenticate automatically without human intervention, enhancing security.</a:t>
            </a:r>
            <a:endParaRPr lang="en-GB"/>
          </a:p>
          <a:p>
            <a:pPr marL="0" indent="0">
              <a:spcBef>
                <a:spcPts val="2500"/>
              </a:spcBef>
              <a:buFont typeface="Arial" panose="020B0604020202020204" pitchFamily="34" charset="0"/>
              <a:buNone/>
            </a:pPr>
            <a:r>
              <a:rPr lang="en-GB" b="1"/>
              <a:t>Dynamic Identity Management</a:t>
            </a:r>
          </a:p>
          <a:p>
            <a:pPr marL="0" lvl="1" indent="0">
              <a:buFont typeface="Arial" panose="020B0604020202020204" pitchFamily="34" charset="0"/>
              <a:buNone/>
            </a:pPr>
            <a:r>
              <a:t>SPIRE implements dynamic issuance and management of SPIFFE IDs for seamless workload identity handling.</a:t>
            </a:r>
            <a:endParaRPr lang="en-GB"/>
          </a:p>
          <a:p>
            <a:pPr marL="0" indent="0">
              <a:spcBef>
                <a:spcPts val="2500"/>
              </a:spcBef>
              <a:buFont typeface="Arial" panose="020B0604020202020204" pitchFamily="34" charset="0"/>
              <a:buNone/>
            </a:pPr>
            <a:r>
              <a:rPr lang="en-GB" b="1"/>
              <a:t>Infrastructure Decoupling</a:t>
            </a:r>
          </a:p>
          <a:p>
            <a:pPr marL="0" lvl="1" indent="0">
              <a:buFont typeface="Arial" panose="020B0604020202020204" pitchFamily="34" charset="0"/>
              <a:buNone/>
            </a:pPr>
            <a:r>
              <a:t>The model decouples identity from infrastructure, enabling improved portability and security for workloads.</a:t>
            </a:r>
            <a:endParaRPr lang="en-GB"/>
          </a:p>
        </p:txBody>
      </p:sp>
    </p:spTree>
    <p:extLst>
      <p:ext uri="{BB962C8B-B14F-4D97-AF65-F5344CB8AC3E}">
        <p14:creationId xmlns:p14="http://schemas.microsoft.com/office/powerpoint/2010/main" val="234955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17698-0F46-14FA-D72B-7903F3862951}"/>
              </a:ext>
            </a:extLst>
          </p:cNvPr>
          <p:cNvSpPr>
            <a:spLocks noGrp="1"/>
          </p:cNvSpPr>
          <p:nvPr>
            <p:ph type="title"/>
          </p:nvPr>
        </p:nvSpPr>
        <p:spPr>
          <a:xfrm>
            <a:off x="731520" y="731520"/>
            <a:ext cx="6858000" cy="914400"/>
          </a:xfrm>
        </p:spPr>
        <p:txBody>
          <a:bodyPr anchor="b">
            <a:normAutofit/>
          </a:bodyPr>
          <a:lstStyle/>
          <a:p>
            <a:r>
              <a:rPr lang="en-GB" sz="3100"/>
              <a:t>How SPIFFE Supports Cloud-Native Environments</a:t>
            </a:r>
          </a:p>
        </p:txBody>
      </p:sp>
      <p:sp>
        <p:nvSpPr>
          <p:cNvPr id="4" name="Content Placeholder 3">
            <a:extLst>
              <a:ext uri="{FF2B5EF4-FFF2-40B4-BE49-F238E27FC236}">
                <a16:creationId xmlns:a16="http://schemas.microsoft.com/office/drawing/2014/main" id="{812B40DD-D4EE-4C2C-3536-46AFB9178A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GB" b="1"/>
              <a:t>Workload-Centric Identity</a:t>
            </a:r>
          </a:p>
          <a:p>
            <a:pPr marL="0" lvl="1" indent="0">
              <a:buFont typeface="Arial" panose="020B0604020202020204" pitchFamily="34" charset="0"/>
              <a:buNone/>
            </a:pPr>
            <a:r>
              <a:t>SPIFFE provides identity based on workloads, not IPs or hostnames, ideal for dynamic cloud environments.</a:t>
            </a:r>
            <a:endParaRPr lang="en-US"/>
          </a:p>
          <a:p>
            <a:pPr marL="0" indent="0">
              <a:spcBef>
                <a:spcPts val="2500"/>
              </a:spcBef>
              <a:buFont typeface="Arial" panose="020B0604020202020204" pitchFamily="34" charset="0"/>
              <a:buNone/>
            </a:pPr>
            <a:r>
              <a:rPr lang="en-US" b="1"/>
              <a:t>Integration with Kubernetes and Service Mesh</a:t>
            </a:r>
          </a:p>
          <a:p>
            <a:pPr marL="0" lvl="1" indent="0">
              <a:buFont typeface="Arial" panose="020B0604020202020204" pitchFamily="34" charset="0"/>
              <a:buNone/>
            </a:pPr>
            <a:r>
              <a:t>SPIFFE seamlessly integrates with Kubernetes and service meshes to enable secure service-to-service communication.</a:t>
            </a:r>
            <a:endParaRPr lang="en-US"/>
          </a:p>
          <a:p>
            <a:pPr marL="0" indent="0">
              <a:spcBef>
                <a:spcPts val="2500"/>
              </a:spcBef>
              <a:buFont typeface="Arial" panose="020B0604020202020204" pitchFamily="34" charset="0"/>
              <a:buNone/>
            </a:pPr>
            <a:r>
              <a:rPr lang="en-US" b="1"/>
              <a:t>Enhanced Security with Mutual TLS</a:t>
            </a:r>
          </a:p>
          <a:p>
            <a:pPr marL="0" lvl="1" indent="0">
              <a:buFont typeface="Arial" panose="020B0604020202020204" pitchFamily="34" charset="0"/>
              <a:buNone/>
            </a:pPr>
            <a:r>
              <a:t>Using SPIFFE IDs, mutual TLS provides continuous and automated identity verification for improved security.</a:t>
            </a:r>
            <a:endParaRPr lang="en-GB"/>
          </a:p>
          <a:p>
            <a:pPr marL="0" indent="0">
              <a:spcBef>
                <a:spcPts val="2500"/>
              </a:spcBef>
              <a:buFont typeface="Arial" panose="020B0604020202020204" pitchFamily="34" charset="0"/>
              <a:buNone/>
            </a:pPr>
            <a:r>
              <a:rPr lang="en-GB" b="1"/>
              <a:t>Reduced Operational Overhead</a:t>
            </a:r>
          </a:p>
          <a:p>
            <a:pPr marL="0" lvl="1" indent="0">
              <a:buFont typeface="Arial" panose="020B0604020202020204" pitchFamily="34" charset="0"/>
              <a:buNone/>
            </a:pPr>
            <a:r>
              <a:t>SPIFFE automates identity management, reducing manual efforts and enhancing the security posture of cloud deployments.</a:t>
            </a:r>
            <a:endParaRPr lang="en-GB"/>
          </a:p>
        </p:txBody>
      </p:sp>
      <p:pic>
        <p:nvPicPr>
          <p:cNvPr id="5" name="Content Placeholder 4" descr="Illustration of secure cloud-native infrastructure with containers, Kubernetes, and service mesh connectivity">
            <a:extLst>
              <a:ext uri="{FF2B5EF4-FFF2-40B4-BE49-F238E27FC236}">
                <a16:creationId xmlns:a16="http://schemas.microsoft.com/office/drawing/2014/main" id="{E9B71AF8-0863-48E4-B53F-CA170938429D}"/>
              </a:ext>
            </a:extLst>
          </p:cNvPr>
          <p:cNvPicPr>
            <a:picLocks noGrp="1" noChangeAspect="1"/>
          </p:cNvPicPr>
          <p:nvPr>
            <p:ph type="pic" sz="quarter" idx="18"/>
          </p:nvPr>
        </p:nvPicPr>
        <p:blipFill>
          <a:blip r:embed="rId3"/>
          <a:srcRect l="34986" r="40604"/>
          <a:stretch>
            <a:fillRect/>
          </a:stretch>
        </p:blipFill>
        <p:spPr>
          <a:xfrm>
            <a:off x="9603033" y="301752"/>
            <a:ext cx="2287214" cy="6254496"/>
          </a:xfrm>
        </p:spPr>
      </p:pic>
    </p:spTree>
    <p:extLst>
      <p:ext uri="{BB962C8B-B14F-4D97-AF65-F5344CB8AC3E}">
        <p14:creationId xmlns:p14="http://schemas.microsoft.com/office/powerpoint/2010/main" val="1372520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397F2-CCB3-80F0-C369-BF048401315F}"/>
              </a:ext>
            </a:extLst>
          </p:cNvPr>
          <p:cNvSpPr>
            <a:spLocks noGrp="1"/>
          </p:cNvSpPr>
          <p:nvPr>
            <p:ph type="ctrTitle"/>
          </p:nvPr>
        </p:nvSpPr>
        <p:spPr>
          <a:xfrm>
            <a:off x="1524001" y="836955"/>
            <a:ext cx="5943600" cy="4649446"/>
          </a:xfrm>
        </p:spPr>
        <p:txBody>
          <a:bodyPr anchor="b">
            <a:normAutofit/>
          </a:bodyPr>
          <a:lstStyle/>
          <a:p>
            <a:r>
              <a:rPr lang="en-GB" sz="6200"/>
              <a:t>Integrating Attestation with SPIFFE</a:t>
            </a:r>
          </a:p>
        </p:txBody>
      </p:sp>
    </p:spTree>
    <p:extLst>
      <p:ext uri="{BB962C8B-B14F-4D97-AF65-F5344CB8AC3E}">
        <p14:creationId xmlns:p14="http://schemas.microsoft.com/office/powerpoint/2010/main" val="1075319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6E69-B261-24DC-6B23-195A2C966AF4}"/>
              </a:ext>
            </a:extLst>
          </p:cNvPr>
          <p:cNvSpPr>
            <a:spLocks noGrp="1"/>
          </p:cNvSpPr>
          <p:nvPr>
            <p:ph type="title"/>
          </p:nvPr>
        </p:nvSpPr>
        <p:spPr>
          <a:xfrm>
            <a:off x="7178104" y="731520"/>
            <a:ext cx="3566160" cy="1463040"/>
          </a:xfrm>
        </p:spPr>
        <p:txBody>
          <a:bodyPr anchor="b">
            <a:normAutofit fontScale="90000"/>
          </a:bodyPr>
          <a:lstStyle/>
          <a:p>
            <a:r>
              <a:rPr lang="en-GB" sz="2800"/>
              <a:t>Workflow of Combining Attestation and SPIFFE</a:t>
            </a:r>
          </a:p>
        </p:txBody>
      </p:sp>
      <p:pic>
        <p:nvPicPr>
          <p:cNvPr id="5" name="Content Placeholder 4" descr="Diagram showing workflow of attestation process and secure identity issuance in computing systems">
            <a:extLst>
              <a:ext uri="{FF2B5EF4-FFF2-40B4-BE49-F238E27FC236}">
                <a16:creationId xmlns:a16="http://schemas.microsoft.com/office/drawing/2014/main" id="{83C23230-D1B7-49D7-A52F-D0129FAA73C5}"/>
              </a:ext>
            </a:extLst>
          </p:cNvPr>
          <p:cNvPicPr>
            <a:picLocks noGrp="1" noChangeAspect="1"/>
          </p:cNvPicPr>
          <p:nvPr>
            <p:ph type="pic" sz="quarter" idx="18"/>
          </p:nvPr>
        </p:nvPicPr>
        <p:blipFill>
          <a:blip r:embed="rId3"/>
          <a:srcRect l="16993" r="22383" b="1"/>
          <a:stretch>
            <a:fillRect/>
          </a:stretch>
        </p:blipFill>
        <p:spPr>
          <a:xfrm>
            <a:off x="288485" y="303276"/>
            <a:ext cx="5677791" cy="6251447"/>
          </a:xfrm>
        </p:spPr>
      </p:pic>
      <p:sp>
        <p:nvSpPr>
          <p:cNvPr id="4" name="Content Placeholder 3">
            <a:extLst>
              <a:ext uri="{FF2B5EF4-FFF2-40B4-BE49-F238E27FC236}">
                <a16:creationId xmlns:a16="http://schemas.microsoft.com/office/drawing/2014/main" id="{C3F13D9C-DB3C-2809-CC48-79E4A0B7837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78233" y="2373638"/>
            <a:ext cx="3466596" cy="3798562"/>
          </a:xfrm>
        </p:spPr>
        <p:txBody>
          <a:bodyPr>
            <a:normAutofit/>
          </a:bodyPr>
          <a:lstStyle/>
          <a:p>
            <a:pPr marL="0" indent="0">
              <a:spcBef>
                <a:spcPts val="2500"/>
              </a:spcBef>
              <a:buFont typeface="Arial" panose="020B0604020202020204" pitchFamily="34" charset="0"/>
              <a:buNone/>
            </a:pPr>
            <a:r>
              <a:rPr lang="en-GB" b="1"/>
              <a:t>Attestation Process</a:t>
            </a:r>
          </a:p>
          <a:p>
            <a:pPr marL="0" lvl="1" indent="0">
              <a:buFont typeface="Arial" panose="020B0604020202020204" pitchFamily="34" charset="0"/>
              <a:buNone/>
            </a:pPr>
            <a:r>
              <a:t>Workloads undergo attestation to verify authenticity and ensure system integrity before receiving identities.</a:t>
            </a:r>
            <a:endParaRPr lang="en-GB"/>
          </a:p>
          <a:p>
            <a:pPr marL="0" indent="0">
              <a:spcBef>
                <a:spcPts val="2500"/>
              </a:spcBef>
              <a:buFont typeface="Arial" panose="020B0604020202020204" pitchFamily="34" charset="0"/>
              <a:buNone/>
            </a:pPr>
            <a:r>
              <a:rPr lang="en-GB" b="1"/>
              <a:t>SPIFFE ID Issuance</a:t>
            </a:r>
          </a:p>
          <a:p>
            <a:pPr marL="0" lvl="1" indent="0">
              <a:buFont typeface="Arial" panose="020B0604020202020204" pitchFamily="34" charset="0"/>
              <a:buNone/>
            </a:pPr>
            <a:r>
              <a:t>Successful attestation triggers issuance of SPIFFE ID, linking trustworthiness to workload identity.</a:t>
            </a:r>
            <a:endParaRPr lang="en-GB"/>
          </a:p>
          <a:p>
            <a:pPr marL="0" indent="0">
              <a:spcBef>
                <a:spcPts val="2500"/>
              </a:spcBef>
              <a:buFont typeface="Arial" panose="020B0604020202020204" pitchFamily="34" charset="0"/>
              <a:buNone/>
            </a:pPr>
            <a:r>
              <a:rPr lang="en-GB" b="1"/>
              <a:t>Secure Workload Interaction</a:t>
            </a:r>
          </a:p>
          <a:p>
            <a:pPr marL="0" lvl="1" indent="0">
              <a:buFont typeface="Arial" panose="020B0604020202020204" pitchFamily="34" charset="0"/>
              <a:buNone/>
            </a:pPr>
            <a:r>
              <a:t>Only attested workloads receive identities, enabling secure interactions within dynamic systems.</a:t>
            </a:r>
            <a:endParaRPr lang="en-GB"/>
          </a:p>
        </p:txBody>
      </p:sp>
    </p:spTree>
    <p:extLst>
      <p:ext uri="{BB962C8B-B14F-4D97-AF65-F5344CB8AC3E}">
        <p14:creationId xmlns:p14="http://schemas.microsoft.com/office/powerpoint/2010/main" val="1239589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02020-7733-BA84-5F7C-C606E86526FE}"/>
              </a:ext>
            </a:extLst>
          </p:cNvPr>
          <p:cNvSpPr>
            <a:spLocks noGrp="1"/>
          </p:cNvSpPr>
          <p:nvPr>
            <p:ph type="title"/>
          </p:nvPr>
        </p:nvSpPr>
        <p:spPr>
          <a:xfrm>
            <a:off x="731520" y="731520"/>
            <a:ext cx="6858000" cy="914400"/>
          </a:xfrm>
        </p:spPr>
        <p:txBody>
          <a:bodyPr anchor="b">
            <a:normAutofit/>
          </a:bodyPr>
          <a:lstStyle/>
          <a:p>
            <a:r>
              <a:rPr lang="en-GB" sz="2500"/>
              <a:t>Benefits of Integrating Attestation with Workload Identity</a:t>
            </a:r>
          </a:p>
        </p:txBody>
      </p:sp>
      <p:sp>
        <p:nvSpPr>
          <p:cNvPr id="4" name="Content Placeholder 3">
            <a:extLst>
              <a:ext uri="{FF2B5EF4-FFF2-40B4-BE49-F238E27FC236}">
                <a16:creationId xmlns:a16="http://schemas.microsoft.com/office/drawing/2014/main" id="{5DC72C3A-DFBC-D3D0-F190-7A054B1FF6C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GB" b="1"/>
              <a:t>Enhanced Trust and Security</a:t>
            </a:r>
          </a:p>
          <a:p>
            <a:pPr marL="0" lvl="1" indent="0">
              <a:buFont typeface="Arial" panose="020B0604020202020204" pitchFamily="34" charset="0"/>
              <a:buNone/>
            </a:pPr>
            <a:r>
              <a:t>Integrating attestation with workload identity provides cryptographically verifiable trust to cloud systems, ensuring secure identity binding.</a:t>
            </a:r>
            <a:endParaRPr lang="en-GB"/>
          </a:p>
          <a:p>
            <a:pPr marL="0" indent="0">
              <a:spcBef>
                <a:spcPts val="2500"/>
              </a:spcBef>
              <a:buFont typeface="Arial" panose="020B0604020202020204" pitchFamily="34" charset="0"/>
              <a:buNone/>
            </a:pPr>
            <a:r>
              <a:rPr lang="en-GB" b="1"/>
              <a:t>Mitigation of Identity Spoofing</a:t>
            </a:r>
          </a:p>
          <a:p>
            <a:pPr marL="0" lvl="1" indent="0">
              <a:buFont typeface="Arial" panose="020B0604020202020204" pitchFamily="34" charset="0"/>
              <a:buNone/>
            </a:pPr>
            <a:r>
              <a:t>This integration reduces risks of identity spoofing and unauthorized access by validating system states before identity issuance.</a:t>
            </a:r>
            <a:endParaRPr lang="en-GB"/>
          </a:p>
          <a:p>
            <a:pPr marL="0" indent="0">
              <a:spcBef>
                <a:spcPts val="2500"/>
              </a:spcBef>
              <a:buFont typeface="Arial" panose="020B0604020202020204" pitchFamily="34" charset="0"/>
              <a:buNone/>
            </a:pPr>
            <a:r>
              <a:rPr lang="en-GB" b="1"/>
              <a:t>Support for Zero-Trust Models</a:t>
            </a:r>
          </a:p>
          <a:p>
            <a:pPr marL="0" lvl="1" indent="0">
              <a:buFont typeface="Arial" panose="020B0604020202020204" pitchFamily="34" charset="0"/>
              <a:buNone/>
            </a:pPr>
            <a:r>
              <a:t>Strengthens zero-trust security by continuously verifying identities and system trustworthiness within cloud ecosystems.</a:t>
            </a:r>
            <a:endParaRPr lang="en-GB"/>
          </a:p>
          <a:p>
            <a:pPr marL="0" indent="0">
              <a:spcBef>
                <a:spcPts val="2500"/>
              </a:spcBef>
              <a:buFont typeface="Arial" panose="020B0604020202020204" pitchFamily="34" charset="0"/>
              <a:buNone/>
            </a:pPr>
            <a:r>
              <a:rPr lang="en-GB" b="1"/>
              <a:t>Automation and Compliance</a:t>
            </a:r>
          </a:p>
          <a:p>
            <a:pPr marL="0" lvl="1" indent="0">
              <a:buFont typeface="Arial" panose="020B0604020202020204" pitchFamily="34" charset="0"/>
              <a:buNone/>
            </a:pPr>
            <a:r>
              <a:t>Reduces human error through automation and provides auditable proof-of-trust for compliance with hardware and software integrity.</a:t>
            </a:r>
            <a:endParaRPr lang="en-GB"/>
          </a:p>
        </p:txBody>
      </p:sp>
      <p:pic>
        <p:nvPicPr>
          <p:cNvPr id="5" name="Content Placeholder 4" descr="Secure cloud computing environment with cryptographic security and identity verification symbols">
            <a:extLst>
              <a:ext uri="{FF2B5EF4-FFF2-40B4-BE49-F238E27FC236}">
                <a16:creationId xmlns:a16="http://schemas.microsoft.com/office/drawing/2014/main" id="{FA4FB876-88F3-427E-BFE1-3F8907C5BA15}"/>
              </a:ext>
            </a:extLst>
          </p:cNvPr>
          <p:cNvPicPr>
            <a:picLocks noGrp="1" noChangeAspect="1"/>
          </p:cNvPicPr>
          <p:nvPr>
            <p:ph type="pic" sz="quarter" idx="18"/>
          </p:nvPr>
        </p:nvPicPr>
        <p:blipFill>
          <a:blip r:embed="rId3"/>
          <a:srcRect l="36854" r="38736"/>
          <a:stretch>
            <a:fillRect/>
          </a:stretch>
        </p:blipFill>
        <p:spPr>
          <a:xfrm>
            <a:off x="9603033" y="301752"/>
            <a:ext cx="2287214" cy="6254496"/>
          </a:xfrm>
        </p:spPr>
      </p:pic>
    </p:spTree>
    <p:extLst>
      <p:ext uri="{BB962C8B-B14F-4D97-AF65-F5344CB8AC3E}">
        <p14:creationId xmlns:p14="http://schemas.microsoft.com/office/powerpoint/2010/main" val="41937672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883C9-BFFA-A1E4-07B5-05520979E869}"/>
              </a:ext>
            </a:extLst>
          </p:cNvPr>
          <p:cNvSpPr>
            <a:spLocks noGrp="1"/>
          </p:cNvSpPr>
          <p:nvPr>
            <p:ph type="title"/>
          </p:nvPr>
        </p:nvSpPr>
        <p:spPr>
          <a:xfrm>
            <a:off x="6190488" y="731520"/>
            <a:ext cx="4663440" cy="1447800"/>
          </a:xfrm>
        </p:spPr>
        <p:txBody>
          <a:bodyPr anchor="b">
            <a:normAutofit/>
          </a:bodyPr>
          <a:lstStyle/>
          <a:p>
            <a:r>
              <a:rPr lang="en-GB" sz="3700"/>
              <a:t>Common Use Cases and Scenarios</a:t>
            </a:r>
          </a:p>
        </p:txBody>
      </p:sp>
      <p:pic>
        <p:nvPicPr>
          <p:cNvPr id="5" name="Content Placeholder 4" descr="Illustration of secure service mesh, multi-cloud environments, and IoT device identity verification">
            <a:extLst>
              <a:ext uri="{FF2B5EF4-FFF2-40B4-BE49-F238E27FC236}">
                <a16:creationId xmlns:a16="http://schemas.microsoft.com/office/drawing/2014/main" id="{CD4DEA5B-E0FF-4AB2-9400-6FF91C0DD6BC}"/>
              </a:ext>
            </a:extLst>
          </p:cNvPr>
          <p:cNvPicPr>
            <a:picLocks noGrp="1" noChangeAspect="1"/>
          </p:cNvPicPr>
          <p:nvPr>
            <p:ph type="pic" sz="quarter" idx="18"/>
          </p:nvPr>
        </p:nvPicPr>
        <p:blipFill>
          <a:blip r:embed="rId3"/>
          <a:srcRect l="40406" r="9727"/>
          <a:stretch>
            <a:fillRect/>
          </a:stretch>
        </p:blipFill>
        <p:spPr>
          <a:xfrm>
            <a:off x="301752" y="301752"/>
            <a:ext cx="4672584" cy="6254496"/>
          </a:xfrm>
        </p:spPr>
      </p:pic>
      <p:sp>
        <p:nvSpPr>
          <p:cNvPr id="4" name="Content Placeholder 3">
            <a:extLst>
              <a:ext uri="{FF2B5EF4-FFF2-40B4-BE49-F238E27FC236}">
                <a16:creationId xmlns:a16="http://schemas.microsoft.com/office/drawing/2014/main" id="{71244025-4D1E-9AE5-91CF-6929F5CE119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1" y="2373638"/>
            <a:ext cx="4460528" cy="3798562"/>
          </a:xfrm>
        </p:spPr>
        <p:txBody>
          <a:bodyPr>
            <a:normAutofit/>
          </a:bodyPr>
          <a:lstStyle/>
          <a:p>
            <a:pPr marL="0" indent="0">
              <a:spcBef>
                <a:spcPts val="2500"/>
              </a:spcBef>
              <a:buFont typeface="Arial" panose="020B0604020202020204" pitchFamily="34" charset="0"/>
              <a:buNone/>
            </a:pPr>
            <a:r>
              <a:rPr lang="en-GB" b="1"/>
              <a:t>Service Mesh Security</a:t>
            </a:r>
          </a:p>
          <a:p>
            <a:pPr marL="0" lvl="1" indent="0">
              <a:buFont typeface="Arial" panose="020B0604020202020204" pitchFamily="34" charset="0"/>
              <a:buNone/>
            </a:pPr>
            <a:r>
              <a:t>Attested workloads receive SPIFFE IDs enabling encrypted and trusted service-to-service communication in service meshes.</a:t>
            </a:r>
            <a:endParaRPr lang="en-GB"/>
          </a:p>
          <a:p>
            <a:pPr marL="0" indent="0">
              <a:spcBef>
                <a:spcPts val="2500"/>
              </a:spcBef>
              <a:buFont typeface="Arial" panose="020B0604020202020204" pitchFamily="34" charset="0"/>
              <a:buNone/>
            </a:pPr>
            <a:r>
              <a:rPr lang="en-GB" b="1"/>
              <a:t>Multi-Cloud Interoperability</a:t>
            </a:r>
          </a:p>
          <a:p>
            <a:pPr marL="0" lvl="1" indent="0">
              <a:buFont typeface="Arial" panose="020B0604020202020204" pitchFamily="34" charset="0"/>
              <a:buNone/>
            </a:pPr>
            <a:r>
              <a:t>Workload identities remain interoperable and trusted across multiple cloud providers ensuring seamless security.</a:t>
            </a:r>
            <a:endParaRPr lang="en-GB"/>
          </a:p>
          <a:p>
            <a:pPr marL="0" indent="0">
              <a:spcBef>
                <a:spcPts val="2500"/>
              </a:spcBef>
              <a:buFont typeface="Arial" panose="020B0604020202020204" pitchFamily="34" charset="0"/>
              <a:buNone/>
            </a:pPr>
            <a:r>
              <a:rPr lang="en-GB" b="1"/>
              <a:t>IoT Device Attestation</a:t>
            </a:r>
          </a:p>
          <a:p>
            <a:pPr marL="0" lvl="1" indent="0">
              <a:buFont typeface="Arial" panose="020B0604020202020204" pitchFamily="34" charset="0"/>
              <a:buNone/>
            </a:pPr>
            <a:r>
              <a:t>Device attestation links IoT devices to workload identities, preventing compromised devices from network access.</a:t>
            </a:r>
            <a:endParaRPr lang="en-GB"/>
          </a:p>
        </p:txBody>
      </p:sp>
    </p:spTree>
    <p:extLst>
      <p:ext uri="{BB962C8B-B14F-4D97-AF65-F5344CB8AC3E}">
        <p14:creationId xmlns:p14="http://schemas.microsoft.com/office/powerpoint/2010/main" val="846728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18EAA-5DCD-376E-0355-09B16F3E6C83}"/>
              </a:ext>
            </a:extLst>
          </p:cNvPr>
          <p:cNvSpPr>
            <a:spLocks noGrp="1"/>
          </p:cNvSpPr>
          <p:nvPr>
            <p:ph type="ctrTitle"/>
          </p:nvPr>
        </p:nvSpPr>
        <p:spPr>
          <a:xfrm>
            <a:off x="1524001" y="836955"/>
            <a:ext cx="5943600" cy="4649446"/>
          </a:xfrm>
        </p:spPr>
        <p:txBody>
          <a:bodyPr anchor="b">
            <a:normAutofit/>
          </a:bodyPr>
          <a:lstStyle/>
          <a:p>
            <a:r>
              <a:rPr lang="en-GB" sz="4400"/>
              <a:t>Practical Implementations and Challenges</a:t>
            </a:r>
          </a:p>
        </p:txBody>
      </p:sp>
    </p:spTree>
    <p:extLst>
      <p:ext uri="{BB962C8B-B14F-4D97-AF65-F5344CB8AC3E}">
        <p14:creationId xmlns:p14="http://schemas.microsoft.com/office/powerpoint/2010/main" val="144279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100A9-D6D2-2BB8-8CAA-D2B0662D36A9}"/>
              </a:ext>
            </a:extLst>
          </p:cNvPr>
          <p:cNvSpPr>
            <a:spLocks noGrp="1"/>
          </p:cNvSpPr>
          <p:nvPr>
            <p:ph type="title"/>
          </p:nvPr>
        </p:nvSpPr>
        <p:spPr>
          <a:xfrm>
            <a:off x="731520" y="731520"/>
            <a:ext cx="6858000" cy="914400"/>
          </a:xfrm>
        </p:spPr>
        <p:txBody>
          <a:bodyPr anchor="b">
            <a:normAutofit/>
          </a:bodyPr>
          <a:lstStyle/>
          <a:p>
            <a:r>
              <a:rPr lang="en-GB" sz="3100"/>
              <a:t>Deployment Considerations and Best Practices</a:t>
            </a:r>
          </a:p>
        </p:txBody>
      </p:sp>
      <p:sp>
        <p:nvSpPr>
          <p:cNvPr id="4" name="Content Placeholder 3">
            <a:extLst>
              <a:ext uri="{FF2B5EF4-FFF2-40B4-BE49-F238E27FC236}">
                <a16:creationId xmlns:a16="http://schemas.microsoft.com/office/drawing/2014/main" id="{890826A2-563C-D9C8-E4CD-E1860D0890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GB" b="1"/>
              <a:t>Infrastructure Integration</a:t>
            </a:r>
          </a:p>
          <a:p>
            <a:pPr marL="0" lvl="1" indent="0">
              <a:buFont typeface="Arial" panose="020B0604020202020204" pitchFamily="34" charset="0"/>
              <a:buNone/>
            </a:pPr>
            <a:r>
              <a:t>Attestation and SPIFFE deployment must seamlessly integrate with existing infrastructure and security policies.</a:t>
            </a:r>
            <a:endParaRPr lang="en-GB"/>
          </a:p>
          <a:p>
            <a:pPr marL="0" indent="0">
              <a:spcBef>
                <a:spcPts val="2500"/>
              </a:spcBef>
              <a:buFont typeface="Arial" panose="020B0604020202020204" pitchFamily="34" charset="0"/>
              <a:buNone/>
            </a:pPr>
            <a:r>
              <a:rPr lang="en-GB" b="1"/>
              <a:t>Automate Identity Management</a:t>
            </a:r>
          </a:p>
          <a:p>
            <a:pPr marL="0" lvl="1" indent="0">
              <a:buFont typeface="Arial" panose="020B0604020202020204" pitchFamily="34" charset="0"/>
              <a:buNone/>
            </a:pPr>
            <a:r>
              <a:t>Use SPIRE to automate identity lifecycle management for efficient and secure operations.</a:t>
            </a:r>
            <a:endParaRPr lang="en-GB"/>
          </a:p>
          <a:p>
            <a:pPr marL="0" indent="0">
              <a:spcBef>
                <a:spcPts val="2500"/>
              </a:spcBef>
              <a:buFont typeface="Arial" panose="020B0604020202020204" pitchFamily="34" charset="0"/>
              <a:buNone/>
            </a:pPr>
            <a:r>
              <a:rPr lang="en-GB" b="1"/>
              <a:t>Hardware-Based Root of Trust</a:t>
            </a:r>
          </a:p>
          <a:p>
            <a:pPr marL="0" lvl="1" indent="0">
              <a:buFont typeface="Arial" panose="020B0604020202020204" pitchFamily="34" charset="0"/>
              <a:buNone/>
            </a:pPr>
            <a:r>
              <a:t>Leverage hardware attestation capabilities to establish a strong root of trust for security.</a:t>
            </a:r>
            <a:endParaRPr lang="en-GB"/>
          </a:p>
          <a:p>
            <a:pPr marL="0" indent="0">
              <a:spcBef>
                <a:spcPts val="2500"/>
              </a:spcBef>
              <a:buFont typeface="Arial" panose="020B0604020202020204" pitchFamily="34" charset="0"/>
              <a:buNone/>
            </a:pPr>
            <a:r>
              <a:rPr lang="en-GB" b="1"/>
              <a:t>Continuous Attestation and Monitoring</a:t>
            </a:r>
          </a:p>
          <a:p>
            <a:pPr marL="0" lvl="1" indent="0">
              <a:buFont typeface="Arial" panose="020B0604020202020204" pitchFamily="34" charset="0"/>
              <a:buNone/>
            </a:pPr>
            <a:r>
              <a:t>Implement continuous attestation with monitoring and logging to enhance operational visibility.</a:t>
            </a:r>
            <a:endParaRPr lang="en-GB"/>
          </a:p>
        </p:txBody>
      </p:sp>
      <p:pic>
        <p:nvPicPr>
          <p:cNvPr id="5" name="Content Placeholder 4" descr="Cloud infrastructure integration with security automation and continuous attestation systems">
            <a:extLst>
              <a:ext uri="{FF2B5EF4-FFF2-40B4-BE49-F238E27FC236}">
                <a16:creationId xmlns:a16="http://schemas.microsoft.com/office/drawing/2014/main" id="{D90B25B2-FD2B-4112-ADBE-5DFF33E0A4D7}"/>
              </a:ext>
            </a:extLst>
          </p:cNvPr>
          <p:cNvPicPr>
            <a:picLocks noGrp="1" noChangeAspect="1"/>
          </p:cNvPicPr>
          <p:nvPr>
            <p:ph type="pic" sz="quarter" idx="18"/>
          </p:nvPr>
        </p:nvPicPr>
        <p:blipFill>
          <a:blip r:embed="rId3"/>
          <a:srcRect l="36613" r="38977"/>
          <a:stretch>
            <a:fillRect/>
          </a:stretch>
        </p:blipFill>
        <p:spPr>
          <a:xfrm>
            <a:off x="9603033" y="301752"/>
            <a:ext cx="2287214" cy="6254496"/>
          </a:xfrm>
        </p:spPr>
      </p:pic>
    </p:spTree>
    <p:extLst>
      <p:ext uri="{BB962C8B-B14F-4D97-AF65-F5344CB8AC3E}">
        <p14:creationId xmlns:p14="http://schemas.microsoft.com/office/powerpoint/2010/main" val="1366991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923F1-7C79-1D93-C64D-B31043F9F7E5}"/>
              </a:ext>
            </a:extLst>
          </p:cNvPr>
          <p:cNvSpPr>
            <a:spLocks noGrp="1"/>
          </p:cNvSpPr>
          <p:nvPr>
            <p:ph type="title"/>
          </p:nvPr>
        </p:nvSpPr>
        <p:spPr>
          <a:xfrm>
            <a:off x="731520" y="731520"/>
            <a:ext cx="3657600" cy="2011680"/>
          </a:xfrm>
        </p:spPr>
        <p:txBody>
          <a:bodyPr anchor="t">
            <a:normAutofit/>
          </a:bodyPr>
          <a:lstStyle/>
          <a:p>
            <a:r>
              <a:rPr lang="en-GB" sz="3100"/>
              <a:t>Security Challenges and Mitigation Strategies</a:t>
            </a:r>
          </a:p>
        </p:txBody>
      </p:sp>
      <p:pic>
        <p:nvPicPr>
          <p:cNvPr id="5" name="Content Placeholder 4" descr="Illustration of cybersecurity elements including cryptographic keys, hardware security, multi-factor authentication, and audit processes">
            <a:extLst>
              <a:ext uri="{FF2B5EF4-FFF2-40B4-BE49-F238E27FC236}">
                <a16:creationId xmlns:a16="http://schemas.microsoft.com/office/drawing/2014/main" id="{E4C81797-AC28-4E51-BEC9-AA60EDA88A2C}"/>
              </a:ext>
            </a:extLst>
          </p:cNvPr>
          <p:cNvPicPr>
            <a:picLocks noGrp="1" noChangeAspect="1"/>
          </p:cNvPicPr>
          <p:nvPr>
            <p:ph type="pic" sz="quarter" idx="19"/>
          </p:nvPr>
        </p:nvPicPr>
        <p:blipFill>
          <a:blip r:embed="rId3"/>
          <a:stretch/>
        </p:blipFill>
        <p:spPr>
          <a:xfrm>
            <a:off x="1038623" y="3723344"/>
            <a:ext cx="2542791" cy="1697312"/>
          </a:xfrm>
        </p:spPr>
      </p:pic>
      <p:sp>
        <p:nvSpPr>
          <p:cNvPr id="4" name="Content Placeholder 3">
            <a:extLst>
              <a:ext uri="{FF2B5EF4-FFF2-40B4-BE49-F238E27FC236}">
                <a16:creationId xmlns:a16="http://schemas.microsoft.com/office/drawing/2014/main" id="{3AC5C095-1309-50F0-6241-E00BD08673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6320" y="731520"/>
            <a:ext cx="5920354" cy="5171831"/>
          </a:xfrm>
        </p:spPr>
        <p:txBody>
          <a:bodyPr>
            <a:normAutofit/>
          </a:bodyPr>
          <a:lstStyle/>
          <a:p>
            <a:pPr marL="0" indent="0">
              <a:spcBef>
                <a:spcPts val="2500"/>
              </a:spcBef>
              <a:buFont typeface="Arial" panose="020B0604020202020204" pitchFamily="34" charset="0"/>
              <a:buNone/>
            </a:pPr>
            <a:r>
              <a:rPr lang="en-GB" b="1"/>
              <a:t>Attestation Spoofing Risks</a:t>
            </a:r>
          </a:p>
          <a:p>
            <a:pPr marL="0" lvl="1" indent="0">
              <a:buFont typeface="Arial" panose="020B0604020202020204" pitchFamily="34" charset="0"/>
              <a:buNone/>
            </a:pPr>
            <a:r>
              <a:t>Potential spoofing attacks threaten the integrity of identity attestation processes in security systems.</a:t>
            </a:r>
            <a:endParaRPr lang="en-GB"/>
          </a:p>
          <a:p>
            <a:pPr marL="0" indent="0">
              <a:spcBef>
                <a:spcPts val="2500"/>
              </a:spcBef>
              <a:buFont typeface="Arial" panose="020B0604020202020204" pitchFamily="34" charset="0"/>
              <a:buNone/>
            </a:pPr>
            <a:r>
              <a:rPr lang="en-GB" b="1"/>
              <a:t>Mitigation with Cryptography</a:t>
            </a:r>
          </a:p>
          <a:p>
            <a:pPr marL="0" lvl="1" indent="0">
              <a:buFont typeface="Arial" panose="020B0604020202020204" pitchFamily="34" charset="0"/>
              <a:buNone/>
            </a:pPr>
            <a:r>
              <a:t>Strong cryptographic primitives and multi-factor attestation enhance security against spoofing and misconfiguration.</a:t>
            </a:r>
            <a:endParaRPr lang="en-GB"/>
          </a:p>
          <a:p>
            <a:pPr marL="0" indent="0">
              <a:spcBef>
                <a:spcPts val="2500"/>
              </a:spcBef>
              <a:buFont typeface="Arial" panose="020B0604020202020204" pitchFamily="34" charset="0"/>
              <a:buNone/>
            </a:pPr>
            <a:r>
              <a:rPr lang="en-GB" b="1"/>
              <a:t>Regular Auditing Practices</a:t>
            </a:r>
          </a:p>
          <a:p>
            <a:pPr marL="0" lvl="1" indent="0">
              <a:buFont typeface="Arial" panose="020B0604020202020204" pitchFamily="34" charset="0"/>
              <a:buNone/>
            </a:pPr>
            <a:r>
              <a:t>Continuous auditing of attestation and SPIFFE systems ensures early detection and response to security issues.</a:t>
            </a:r>
            <a:endParaRPr lang="en-GB"/>
          </a:p>
          <a:p>
            <a:pPr marL="0" indent="0">
              <a:spcBef>
                <a:spcPts val="2500"/>
              </a:spcBef>
              <a:buFont typeface="Arial" panose="020B0604020202020204" pitchFamily="34" charset="0"/>
              <a:buNone/>
            </a:pPr>
            <a:r>
              <a:rPr lang="en-GB" b="1"/>
              <a:t>Integration with Security Frameworks</a:t>
            </a:r>
          </a:p>
          <a:p>
            <a:pPr marL="0" lvl="1" indent="0">
              <a:buFont typeface="Arial" panose="020B0604020202020204" pitchFamily="34" charset="0"/>
              <a:buNone/>
            </a:pPr>
            <a:r>
              <a:t>Tight integration with broader security frameworks reduces risks and supports fallback mechanisms for failures.</a:t>
            </a:r>
            <a:endParaRPr lang="en-GB"/>
          </a:p>
        </p:txBody>
      </p:sp>
    </p:spTree>
    <p:extLst>
      <p:ext uri="{BB962C8B-B14F-4D97-AF65-F5344CB8AC3E}">
        <p14:creationId xmlns:p14="http://schemas.microsoft.com/office/powerpoint/2010/main" val="2310989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0CCF-1F36-4D94-CFEC-BBB07DBBC01E}"/>
              </a:ext>
            </a:extLst>
          </p:cNvPr>
          <p:cNvSpPr>
            <a:spLocks noGrp="1"/>
          </p:cNvSpPr>
          <p:nvPr>
            <p:ph type="title"/>
          </p:nvPr>
        </p:nvSpPr>
        <p:spPr>
          <a:xfrm>
            <a:off x="731520" y="731520"/>
            <a:ext cx="6858000" cy="914400"/>
          </a:xfrm>
        </p:spPr>
        <p:txBody>
          <a:bodyPr anchor="b">
            <a:normAutofit/>
          </a:bodyPr>
          <a:lstStyle/>
          <a:p>
            <a:r>
              <a:rPr lang="en-GB" sz="3100"/>
              <a:t>Future Trends in Attestation and SPIFFE</a:t>
            </a:r>
          </a:p>
        </p:txBody>
      </p:sp>
      <p:sp>
        <p:nvSpPr>
          <p:cNvPr id="4" name="Content Placeholder 3">
            <a:extLst>
              <a:ext uri="{FF2B5EF4-FFF2-40B4-BE49-F238E27FC236}">
                <a16:creationId xmlns:a16="http://schemas.microsoft.com/office/drawing/2014/main" id="{367FF9BF-1E65-D96B-0E73-949199320BB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GB" b="1"/>
              <a:t>Integration with Confidential Computing</a:t>
            </a:r>
          </a:p>
          <a:p>
            <a:pPr marL="0" lvl="1" indent="0">
              <a:buFont typeface="Arial" panose="020B0604020202020204" pitchFamily="34" charset="0"/>
              <a:buNone/>
            </a:pPr>
            <a:r>
              <a:t>Future attestation will integrate confidential computing to enhance data privacy and security during processing.</a:t>
            </a:r>
            <a:endParaRPr lang="en-GB"/>
          </a:p>
          <a:p>
            <a:pPr marL="0" indent="0">
              <a:spcBef>
                <a:spcPts val="2500"/>
              </a:spcBef>
              <a:buFont typeface="Arial" panose="020B0604020202020204" pitchFamily="34" charset="0"/>
              <a:buNone/>
            </a:pPr>
            <a:r>
              <a:rPr lang="en-GB" b="1"/>
              <a:t>Decentralized Identity Models</a:t>
            </a:r>
          </a:p>
          <a:p>
            <a:pPr marL="0" lvl="1" indent="0">
              <a:buFont typeface="Arial" panose="020B0604020202020204" pitchFamily="34" charset="0"/>
              <a:buNone/>
            </a:pPr>
            <a:r>
              <a:t>Support for decentralized identity models will empower more secure and flexible identity verification methods.</a:t>
            </a:r>
            <a:endParaRPr lang="en-GB"/>
          </a:p>
          <a:p>
            <a:pPr marL="0" indent="0">
              <a:spcBef>
                <a:spcPts val="2500"/>
              </a:spcBef>
              <a:buFont typeface="Arial" panose="020B0604020202020204" pitchFamily="34" charset="0"/>
              <a:buNone/>
            </a:pPr>
            <a:r>
              <a:rPr lang="en-GB" b="1"/>
              <a:t>AI-driven Anomaly Detection</a:t>
            </a:r>
          </a:p>
          <a:p>
            <a:pPr marL="0" lvl="1" indent="0">
              <a:buFont typeface="Arial" panose="020B0604020202020204" pitchFamily="34" charset="0"/>
              <a:buNone/>
            </a:pPr>
            <a:r>
              <a:t>AI will enhance attestation by detecting anomalies and improving trustworthiness of authentication results.</a:t>
            </a:r>
            <a:endParaRPr lang="en-GB"/>
          </a:p>
          <a:p>
            <a:pPr marL="0" indent="0">
              <a:spcBef>
                <a:spcPts val="2500"/>
              </a:spcBef>
              <a:buFont typeface="Arial" panose="020B0604020202020204" pitchFamily="34" charset="0"/>
              <a:buNone/>
            </a:pPr>
            <a:r>
              <a:rPr lang="en-GB" b="1"/>
              <a:t>Zero-Trust and Multi-Cloud Adoption</a:t>
            </a:r>
          </a:p>
          <a:p>
            <a:pPr marL="0" lvl="1" indent="0">
              <a:buFont typeface="Arial" panose="020B0604020202020204" pitchFamily="34" charset="0"/>
              <a:buNone/>
            </a:pPr>
            <a:r>
              <a:t>Zero-trust architectures and multi-cloud strategies will drive innovation in scalable, automated trust frameworks.</a:t>
            </a:r>
            <a:endParaRPr lang="en-GB"/>
          </a:p>
        </p:txBody>
      </p:sp>
      <p:pic>
        <p:nvPicPr>
          <p:cNvPr id="5" name="Content Placeholder 4" descr="abstract digital security concepts with AI, cloud computing, and decentralized identity models">
            <a:extLst>
              <a:ext uri="{FF2B5EF4-FFF2-40B4-BE49-F238E27FC236}">
                <a16:creationId xmlns:a16="http://schemas.microsoft.com/office/drawing/2014/main" id="{BC84E201-3555-4CF5-B021-E92E5DB5A20C}"/>
              </a:ext>
            </a:extLst>
          </p:cNvPr>
          <p:cNvPicPr>
            <a:picLocks noGrp="1" noChangeAspect="1"/>
          </p:cNvPicPr>
          <p:nvPr>
            <p:ph type="pic" sz="quarter" idx="18"/>
          </p:nvPr>
        </p:nvPicPr>
        <p:blipFill>
          <a:blip r:embed="rId3"/>
          <a:srcRect l="28944" r="46646"/>
          <a:stretch>
            <a:fillRect/>
          </a:stretch>
        </p:blipFill>
        <p:spPr>
          <a:xfrm>
            <a:off x="9603033" y="301752"/>
            <a:ext cx="2287214" cy="6254496"/>
          </a:xfrm>
        </p:spPr>
      </p:pic>
    </p:spTree>
    <p:extLst>
      <p:ext uri="{BB962C8B-B14F-4D97-AF65-F5344CB8AC3E}">
        <p14:creationId xmlns:p14="http://schemas.microsoft.com/office/powerpoint/2010/main" val="15841149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504E9-A11E-11EB-790D-BC4026621730}"/>
              </a:ext>
            </a:extLst>
          </p:cNvPr>
          <p:cNvSpPr>
            <a:spLocks noGrp="1"/>
          </p:cNvSpPr>
          <p:nvPr>
            <p:ph type="title"/>
          </p:nvPr>
        </p:nvSpPr>
        <p:spPr>
          <a:xfrm>
            <a:off x="731520" y="731520"/>
            <a:ext cx="10056254" cy="1798622"/>
          </a:xfrm>
        </p:spPr>
        <p:txBody>
          <a:bodyPr anchor="b">
            <a:normAutofit/>
          </a:bodyPr>
          <a:lstStyle/>
          <a:p>
            <a:r>
              <a:rPr lang="en-GB" sz="4200"/>
              <a:t>Conclusion: Enhancing Cloud Security through Attestation and SPIFFE Integration</a:t>
            </a:r>
          </a:p>
        </p:txBody>
      </p:sp>
      <p:graphicFrame>
        <p:nvGraphicFramePr>
          <p:cNvPr id="7" name="Content Placeholder 2">
            <a:extLst>
              <a:ext uri="{FF2B5EF4-FFF2-40B4-BE49-F238E27FC236}">
                <a16:creationId xmlns:a16="http://schemas.microsoft.com/office/drawing/2014/main" id="{0EA77451-5CF6-ABA2-661C-89A428B0DBF6}"/>
              </a:ext>
            </a:extLst>
          </p:cNvPr>
          <p:cNvGraphicFramePr>
            <a:graphicFrameLocks noGrp="1"/>
          </p:cNvGraphicFramePr>
          <p:nvPr>
            <p:ph sz="quarter" idx="13"/>
            <p:extLst>
              <p:ext uri="{D42A27DB-BD31-4B8C-83A1-F6EECF244321}">
                <p14:modId xmlns:p14="http://schemas.microsoft.com/office/powerpoint/2010/main" val="2546827705"/>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731520" y="2941593"/>
          <a:ext cx="10951037" cy="27731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61558922"/>
      </p:ext>
    </p:extLst>
  </p:cSld>
  <p:clrMapOvr>
    <a:masterClrMapping/>
  </p:clrMapOvr>
  <p:transition>
    <p:fade/>
  </p:transition>
</p:sld>
</file>

<file path=ppt/theme/theme1.xml><?xml version="1.0" encoding="utf-8"?>
<a:theme xmlns:a="http://schemas.openxmlformats.org/drawingml/2006/main" name="Galaxy">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2139</Words>
  <Application>Microsoft Office PowerPoint</Application>
  <PresentationFormat>Widescreen</PresentationFormat>
  <Paragraphs>158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Univers</vt:lpstr>
      <vt:lpstr>Galaxy</vt:lpstr>
      <vt:lpstr>Attestation and SPIFFE: Securing Modern Identity and Trust Architecture </vt:lpstr>
      <vt:lpstr>Agenda Highlights</vt:lpstr>
      <vt:lpstr>Understanding Attestation in Security architecture</vt:lpstr>
      <vt:lpstr>Definition and Purpose of Attestation</vt:lpstr>
      <vt:lpstr>Types of Attestation: Hardware, Software, and Remote</vt:lpstr>
      <vt:lpstr>Role of Attestation in Establishing Trust</vt:lpstr>
      <vt:lpstr>Introduction to SPIFFE (Secure Production Identity Framework For Everyone)</vt:lpstr>
      <vt:lpstr>Overview and Key Principles of SPIFFE</vt:lpstr>
      <vt:lpstr>SPIFFE Identity Model: SPIFFE ID and Workloads</vt:lpstr>
      <vt:lpstr>How SPIFFE Supports Cloud-Native Environments</vt:lpstr>
      <vt:lpstr>Integrating Attestation with SPIFFE</vt:lpstr>
      <vt:lpstr>Workflow of Combining Attestation and SPIFFE</vt:lpstr>
      <vt:lpstr>Benefits of Integrating Attestation with Workload Identity</vt:lpstr>
      <vt:lpstr>Common Use Cases and Scenarios</vt:lpstr>
      <vt:lpstr>Practical Implementations and Challenges</vt:lpstr>
      <vt:lpstr>Deployment Considerations and Best Practices</vt:lpstr>
      <vt:lpstr>Security Challenges and Mitigation Strategies</vt:lpstr>
      <vt:lpstr>Future Trends in Attestation and SPIFFE</vt:lpstr>
      <vt:lpstr>Conclusion: Enhancing Cloud Security through Attestation and SPIFFE Integration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Carruthers</dc:creator>
  <cp:lastModifiedBy>Tony Carruthers</cp:lastModifiedBy>
  <cp:revision>1</cp:revision>
  <dcterms:created xsi:type="dcterms:W3CDTF">2026-03-16T10:55:20Z</dcterms:created>
  <dcterms:modified xsi:type="dcterms:W3CDTF">2026-03-16T11:13:07Z</dcterms:modified>
</cp:coreProperties>
</file>